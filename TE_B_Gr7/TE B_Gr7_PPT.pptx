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91" r:id="rId2"/>
    <p:sldId id="305" r:id="rId3"/>
    <p:sldId id="306" r:id="rId4"/>
    <p:sldId id="312" r:id="rId5"/>
    <p:sldId id="307" r:id="rId6"/>
    <p:sldId id="308" r:id="rId7"/>
    <p:sldId id="299" r:id="rId8"/>
    <p:sldId id="300" r:id="rId9"/>
    <p:sldId id="309" r:id="rId10"/>
    <p:sldId id="311" r:id="rId11"/>
    <p:sldId id="301" r:id="rId12"/>
    <p:sldId id="310" r:id="rId13"/>
    <p:sldId id="313" r:id="rId14"/>
    <p:sldId id="302" r:id="rId15"/>
    <p:sldId id="303"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439D02-6919-41BF-B871-5363383433E3}" type="datetimeFigureOut">
              <a:rPr lang="en-IN" smtClean="0"/>
              <a:t>13-02-2026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212BA-BB15-466D-9F05-67AF7EF82E87}" type="slidenum">
              <a:rPr lang="en-IN" smtClean="0"/>
              <a:t>‹#›</a:t>
            </a:fld>
            <a:endParaRPr lang="en-IN"/>
          </a:p>
        </p:txBody>
      </p:sp>
    </p:spTree>
    <p:extLst>
      <p:ext uri="{BB962C8B-B14F-4D97-AF65-F5344CB8AC3E}">
        <p14:creationId xmlns:p14="http://schemas.microsoft.com/office/powerpoint/2010/main" val="22747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3AC23-9DF0-D872-7A89-6794558CAB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BAC85B-9B31-1F52-9A94-06400A6B8C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B88C6C-21E0-24FC-672F-B360A3BB9F90}"/>
              </a:ext>
            </a:extLst>
          </p:cNvPr>
          <p:cNvSpPr>
            <a:spLocks noGrp="1"/>
          </p:cNvSpPr>
          <p:nvPr>
            <p:ph type="dt" sz="half" idx="10"/>
          </p:nvPr>
        </p:nvSpPr>
        <p:spPr/>
        <p:txBody>
          <a:bodyPr/>
          <a:lstStyle/>
          <a:p>
            <a:fld id="{368CF483-9D90-4CC1-AA07-0A5B7B6D0F7E}" type="datetime1">
              <a:rPr lang="en-IN" smtClean="0"/>
              <a:t>13-02-2026</a:t>
            </a:fld>
            <a:endParaRPr lang="en-IN"/>
          </a:p>
        </p:txBody>
      </p:sp>
      <p:sp>
        <p:nvSpPr>
          <p:cNvPr id="5" name="Footer Placeholder 4">
            <a:extLst>
              <a:ext uri="{FF2B5EF4-FFF2-40B4-BE49-F238E27FC236}">
                <a16:creationId xmlns:a16="http://schemas.microsoft.com/office/drawing/2014/main" id="{4B25E75F-F83E-BCA2-278F-64FA9A40670F}"/>
              </a:ext>
            </a:extLst>
          </p:cNvPr>
          <p:cNvSpPr>
            <a:spLocks noGrp="1"/>
          </p:cNvSpPr>
          <p:nvPr>
            <p:ph type="ftr" sz="quarter" idx="11"/>
          </p:nvPr>
        </p:nvSpPr>
        <p:spPr/>
        <p:txBody>
          <a:bodyPr/>
          <a:lstStyle/>
          <a:p>
            <a:r>
              <a:rPr lang="en-US"/>
              <a:t>Mini Project Topic Approval </a:t>
            </a:r>
            <a:endParaRPr lang="en-IN"/>
          </a:p>
        </p:txBody>
      </p:sp>
      <p:sp>
        <p:nvSpPr>
          <p:cNvPr id="6" name="Slide Number Placeholder 5">
            <a:extLst>
              <a:ext uri="{FF2B5EF4-FFF2-40B4-BE49-F238E27FC236}">
                <a16:creationId xmlns:a16="http://schemas.microsoft.com/office/drawing/2014/main" id="{570424E6-5136-6EDD-6E45-6AFA18A0B7C6}"/>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1652890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7E3E7-F9D7-C4C7-DC71-5B17EF90A3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508147-1702-2568-DDFC-443C601A34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040594-C970-D776-6788-F52545F88866}"/>
              </a:ext>
            </a:extLst>
          </p:cNvPr>
          <p:cNvSpPr>
            <a:spLocks noGrp="1"/>
          </p:cNvSpPr>
          <p:nvPr>
            <p:ph type="dt" sz="half" idx="10"/>
          </p:nvPr>
        </p:nvSpPr>
        <p:spPr/>
        <p:txBody>
          <a:bodyPr/>
          <a:lstStyle/>
          <a:p>
            <a:fld id="{935C6B44-FC28-4FF5-8167-897E276FDAF9}" type="datetime1">
              <a:rPr lang="en-IN" smtClean="0"/>
              <a:t>13-02-2026</a:t>
            </a:fld>
            <a:endParaRPr lang="en-IN"/>
          </a:p>
        </p:txBody>
      </p:sp>
      <p:sp>
        <p:nvSpPr>
          <p:cNvPr id="5" name="Footer Placeholder 4">
            <a:extLst>
              <a:ext uri="{FF2B5EF4-FFF2-40B4-BE49-F238E27FC236}">
                <a16:creationId xmlns:a16="http://schemas.microsoft.com/office/drawing/2014/main" id="{A1CD246A-859B-A0BF-6AC0-F0978C119DC2}"/>
              </a:ext>
            </a:extLst>
          </p:cNvPr>
          <p:cNvSpPr>
            <a:spLocks noGrp="1"/>
          </p:cNvSpPr>
          <p:nvPr>
            <p:ph type="ftr" sz="quarter" idx="11"/>
          </p:nvPr>
        </p:nvSpPr>
        <p:spPr/>
        <p:txBody>
          <a:bodyPr/>
          <a:lstStyle/>
          <a:p>
            <a:r>
              <a:rPr lang="en-US"/>
              <a:t>Mini Project Topic Approval </a:t>
            </a:r>
            <a:endParaRPr lang="en-IN"/>
          </a:p>
        </p:txBody>
      </p:sp>
      <p:sp>
        <p:nvSpPr>
          <p:cNvPr id="6" name="Slide Number Placeholder 5">
            <a:extLst>
              <a:ext uri="{FF2B5EF4-FFF2-40B4-BE49-F238E27FC236}">
                <a16:creationId xmlns:a16="http://schemas.microsoft.com/office/drawing/2014/main" id="{077029C6-0649-20F3-7A85-552180B72378}"/>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3668898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F3530-3720-D6D9-62B6-BE978A6FBE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714959-1F47-5EB3-4B74-C0F6912416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DC7867-134C-002A-836F-279DD178B746}"/>
              </a:ext>
            </a:extLst>
          </p:cNvPr>
          <p:cNvSpPr>
            <a:spLocks noGrp="1"/>
          </p:cNvSpPr>
          <p:nvPr>
            <p:ph type="dt" sz="half" idx="10"/>
          </p:nvPr>
        </p:nvSpPr>
        <p:spPr/>
        <p:txBody>
          <a:bodyPr/>
          <a:lstStyle/>
          <a:p>
            <a:fld id="{C9B036CD-FACC-43EF-A6F0-5443BE5D4FE4}" type="datetime1">
              <a:rPr lang="en-IN" smtClean="0"/>
              <a:t>13-02-2026</a:t>
            </a:fld>
            <a:endParaRPr lang="en-IN"/>
          </a:p>
        </p:txBody>
      </p:sp>
      <p:sp>
        <p:nvSpPr>
          <p:cNvPr id="5" name="Footer Placeholder 4">
            <a:extLst>
              <a:ext uri="{FF2B5EF4-FFF2-40B4-BE49-F238E27FC236}">
                <a16:creationId xmlns:a16="http://schemas.microsoft.com/office/drawing/2014/main" id="{15F043BD-A8F2-08CB-4A4C-032996614319}"/>
              </a:ext>
            </a:extLst>
          </p:cNvPr>
          <p:cNvSpPr>
            <a:spLocks noGrp="1"/>
          </p:cNvSpPr>
          <p:nvPr>
            <p:ph type="ftr" sz="quarter" idx="11"/>
          </p:nvPr>
        </p:nvSpPr>
        <p:spPr/>
        <p:txBody>
          <a:bodyPr/>
          <a:lstStyle/>
          <a:p>
            <a:r>
              <a:rPr lang="en-US"/>
              <a:t>Mini Project Topic Approval </a:t>
            </a:r>
            <a:endParaRPr lang="en-IN"/>
          </a:p>
        </p:txBody>
      </p:sp>
      <p:sp>
        <p:nvSpPr>
          <p:cNvPr id="6" name="Slide Number Placeholder 5">
            <a:extLst>
              <a:ext uri="{FF2B5EF4-FFF2-40B4-BE49-F238E27FC236}">
                <a16:creationId xmlns:a16="http://schemas.microsoft.com/office/drawing/2014/main" id="{D2AA9B5B-E989-6C33-7B27-19FD87E8ED2D}"/>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3937560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B4D28-EAAA-0453-36AB-B19A4FEB8D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809F8-1BA3-6C09-BAFC-AE0092C1A9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25FBE03-BC3C-DF78-9AAA-607EDE7814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1B5833-53B8-5DA1-5932-7BF6FB9DD938}"/>
              </a:ext>
            </a:extLst>
          </p:cNvPr>
          <p:cNvSpPr>
            <a:spLocks noGrp="1"/>
          </p:cNvSpPr>
          <p:nvPr>
            <p:ph type="dt" sz="half" idx="10"/>
          </p:nvPr>
        </p:nvSpPr>
        <p:spPr/>
        <p:txBody>
          <a:bodyPr/>
          <a:lstStyle/>
          <a:p>
            <a:fld id="{1AA4305D-FBAB-4039-A4E8-1792FCD752DF}" type="datetime1">
              <a:rPr lang="en-IN" smtClean="0"/>
              <a:t>13-02-2026</a:t>
            </a:fld>
            <a:endParaRPr lang="en-IN"/>
          </a:p>
        </p:txBody>
      </p:sp>
      <p:sp>
        <p:nvSpPr>
          <p:cNvPr id="6" name="Footer Placeholder 5">
            <a:extLst>
              <a:ext uri="{FF2B5EF4-FFF2-40B4-BE49-F238E27FC236}">
                <a16:creationId xmlns:a16="http://schemas.microsoft.com/office/drawing/2014/main" id="{4D02BE2C-8C08-D321-D19F-92F97D4129F0}"/>
              </a:ext>
            </a:extLst>
          </p:cNvPr>
          <p:cNvSpPr>
            <a:spLocks noGrp="1"/>
          </p:cNvSpPr>
          <p:nvPr>
            <p:ph type="ftr" sz="quarter" idx="11"/>
          </p:nvPr>
        </p:nvSpPr>
        <p:spPr/>
        <p:txBody>
          <a:bodyPr/>
          <a:lstStyle/>
          <a:p>
            <a:r>
              <a:rPr lang="en-US"/>
              <a:t>Mini Project Topic Approval </a:t>
            </a:r>
            <a:endParaRPr lang="en-IN"/>
          </a:p>
        </p:txBody>
      </p:sp>
      <p:sp>
        <p:nvSpPr>
          <p:cNvPr id="7" name="Slide Number Placeholder 6">
            <a:extLst>
              <a:ext uri="{FF2B5EF4-FFF2-40B4-BE49-F238E27FC236}">
                <a16:creationId xmlns:a16="http://schemas.microsoft.com/office/drawing/2014/main" id="{C3BB3353-5255-432D-F095-4CA0DB2B7B13}"/>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3120569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FE072-9D90-62FD-0D38-861849E878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E413F6-FC6B-9466-9C06-1428728F6C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029F96-0F40-3939-8922-F5B65E0596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4A5C0E-4884-1CC6-D335-2C15A8F72A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D8DFD5-ABE6-F25B-4B37-9D4CA1B6AF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624A9D-C518-4873-0191-25A8081C3B2C}"/>
              </a:ext>
            </a:extLst>
          </p:cNvPr>
          <p:cNvSpPr>
            <a:spLocks noGrp="1"/>
          </p:cNvSpPr>
          <p:nvPr>
            <p:ph type="dt" sz="half" idx="10"/>
          </p:nvPr>
        </p:nvSpPr>
        <p:spPr/>
        <p:txBody>
          <a:bodyPr/>
          <a:lstStyle/>
          <a:p>
            <a:fld id="{2E203505-3C81-4353-93DF-80231C8E08D0}" type="datetime1">
              <a:rPr lang="en-IN" smtClean="0"/>
              <a:t>13-02-2026</a:t>
            </a:fld>
            <a:endParaRPr lang="en-IN"/>
          </a:p>
        </p:txBody>
      </p:sp>
      <p:sp>
        <p:nvSpPr>
          <p:cNvPr id="8" name="Footer Placeholder 7">
            <a:extLst>
              <a:ext uri="{FF2B5EF4-FFF2-40B4-BE49-F238E27FC236}">
                <a16:creationId xmlns:a16="http://schemas.microsoft.com/office/drawing/2014/main" id="{81DEB115-CE54-C391-A34E-A5ECDC4A65AD}"/>
              </a:ext>
            </a:extLst>
          </p:cNvPr>
          <p:cNvSpPr>
            <a:spLocks noGrp="1"/>
          </p:cNvSpPr>
          <p:nvPr>
            <p:ph type="ftr" sz="quarter" idx="11"/>
          </p:nvPr>
        </p:nvSpPr>
        <p:spPr/>
        <p:txBody>
          <a:bodyPr/>
          <a:lstStyle/>
          <a:p>
            <a:r>
              <a:rPr lang="en-US"/>
              <a:t>Mini Project Topic Approval </a:t>
            </a:r>
            <a:endParaRPr lang="en-IN"/>
          </a:p>
        </p:txBody>
      </p:sp>
      <p:sp>
        <p:nvSpPr>
          <p:cNvPr id="9" name="Slide Number Placeholder 8">
            <a:extLst>
              <a:ext uri="{FF2B5EF4-FFF2-40B4-BE49-F238E27FC236}">
                <a16:creationId xmlns:a16="http://schemas.microsoft.com/office/drawing/2014/main" id="{4229CFAB-B632-DB34-760D-3DD1734EFD81}"/>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3003192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B6E2A-4FDE-3ED8-957C-55BF8F8748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A0E237-4A8F-480E-668E-582F66A2B695}"/>
              </a:ext>
            </a:extLst>
          </p:cNvPr>
          <p:cNvSpPr>
            <a:spLocks noGrp="1"/>
          </p:cNvSpPr>
          <p:nvPr>
            <p:ph type="dt" sz="half" idx="10"/>
          </p:nvPr>
        </p:nvSpPr>
        <p:spPr/>
        <p:txBody>
          <a:bodyPr/>
          <a:lstStyle/>
          <a:p>
            <a:fld id="{AD7D809C-FF0E-4556-B797-04E45A1A8B92}" type="datetime1">
              <a:rPr lang="en-IN" smtClean="0"/>
              <a:t>13-02-2026</a:t>
            </a:fld>
            <a:endParaRPr lang="en-IN"/>
          </a:p>
        </p:txBody>
      </p:sp>
      <p:sp>
        <p:nvSpPr>
          <p:cNvPr id="4" name="Footer Placeholder 3">
            <a:extLst>
              <a:ext uri="{FF2B5EF4-FFF2-40B4-BE49-F238E27FC236}">
                <a16:creationId xmlns:a16="http://schemas.microsoft.com/office/drawing/2014/main" id="{52DF57C7-A40A-C938-0C19-9C299BD5A15D}"/>
              </a:ext>
            </a:extLst>
          </p:cNvPr>
          <p:cNvSpPr>
            <a:spLocks noGrp="1"/>
          </p:cNvSpPr>
          <p:nvPr>
            <p:ph type="ftr" sz="quarter" idx="11"/>
          </p:nvPr>
        </p:nvSpPr>
        <p:spPr/>
        <p:txBody>
          <a:bodyPr/>
          <a:lstStyle/>
          <a:p>
            <a:r>
              <a:rPr lang="en-US"/>
              <a:t>Mini Project Topic Approval </a:t>
            </a:r>
            <a:endParaRPr lang="en-IN"/>
          </a:p>
        </p:txBody>
      </p:sp>
      <p:sp>
        <p:nvSpPr>
          <p:cNvPr id="5" name="Slide Number Placeholder 4">
            <a:extLst>
              <a:ext uri="{FF2B5EF4-FFF2-40B4-BE49-F238E27FC236}">
                <a16:creationId xmlns:a16="http://schemas.microsoft.com/office/drawing/2014/main" id="{85B9F60D-17E0-B73A-9256-D8C0134B2A2C}"/>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286792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5CA98B-278E-C898-A475-056F39732228}"/>
              </a:ext>
            </a:extLst>
          </p:cNvPr>
          <p:cNvSpPr>
            <a:spLocks noGrp="1"/>
          </p:cNvSpPr>
          <p:nvPr>
            <p:ph type="dt" sz="half" idx="10"/>
          </p:nvPr>
        </p:nvSpPr>
        <p:spPr/>
        <p:txBody>
          <a:bodyPr/>
          <a:lstStyle/>
          <a:p>
            <a:fld id="{DBFD06F8-874C-462A-8E65-66A4D3611B32}" type="datetime1">
              <a:rPr lang="en-IN" smtClean="0"/>
              <a:t>13-02-2026</a:t>
            </a:fld>
            <a:endParaRPr lang="en-IN"/>
          </a:p>
        </p:txBody>
      </p:sp>
      <p:sp>
        <p:nvSpPr>
          <p:cNvPr id="3" name="Footer Placeholder 2">
            <a:extLst>
              <a:ext uri="{FF2B5EF4-FFF2-40B4-BE49-F238E27FC236}">
                <a16:creationId xmlns:a16="http://schemas.microsoft.com/office/drawing/2014/main" id="{4797E0DD-2D3F-A2BE-1800-F665B0EA5B97}"/>
              </a:ext>
            </a:extLst>
          </p:cNvPr>
          <p:cNvSpPr>
            <a:spLocks noGrp="1"/>
          </p:cNvSpPr>
          <p:nvPr>
            <p:ph type="ftr" sz="quarter" idx="11"/>
          </p:nvPr>
        </p:nvSpPr>
        <p:spPr/>
        <p:txBody>
          <a:bodyPr/>
          <a:lstStyle/>
          <a:p>
            <a:r>
              <a:rPr lang="en-US"/>
              <a:t>Mini Project Topic Approval </a:t>
            </a:r>
            <a:endParaRPr lang="en-IN"/>
          </a:p>
        </p:txBody>
      </p:sp>
      <p:sp>
        <p:nvSpPr>
          <p:cNvPr id="4" name="Slide Number Placeholder 3">
            <a:extLst>
              <a:ext uri="{FF2B5EF4-FFF2-40B4-BE49-F238E27FC236}">
                <a16:creationId xmlns:a16="http://schemas.microsoft.com/office/drawing/2014/main" id="{417E11CE-D901-A481-90DE-4CAAFF4C6E29}"/>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257486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C9978-5FEF-EEA6-7F9D-5E7353DF23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CCA7B9-B9CD-68E9-F77A-08C4CA7259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6198F2-277B-B314-274B-9699E0DE29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E1D517-625F-8D05-19CD-89D944D2ECCE}"/>
              </a:ext>
            </a:extLst>
          </p:cNvPr>
          <p:cNvSpPr>
            <a:spLocks noGrp="1"/>
          </p:cNvSpPr>
          <p:nvPr>
            <p:ph type="dt" sz="half" idx="10"/>
          </p:nvPr>
        </p:nvSpPr>
        <p:spPr/>
        <p:txBody>
          <a:bodyPr/>
          <a:lstStyle/>
          <a:p>
            <a:fld id="{53D8E19C-C4A8-4EF9-B6B6-565FC1EBDB34}" type="datetime1">
              <a:rPr lang="en-IN" smtClean="0"/>
              <a:t>13-02-2026</a:t>
            </a:fld>
            <a:endParaRPr lang="en-IN"/>
          </a:p>
        </p:txBody>
      </p:sp>
      <p:sp>
        <p:nvSpPr>
          <p:cNvPr id="6" name="Footer Placeholder 5">
            <a:extLst>
              <a:ext uri="{FF2B5EF4-FFF2-40B4-BE49-F238E27FC236}">
                <a16:creationId xmlns:a16="http://schemas.microsoft.com/office/drawing/2014/main" id="{470A5F5D-DC61-670D-3150-61F371EAD51D}"/>
              </a:ext>
            </a:extLst>
          </p:cNvPr>
          <p:cNvSpPr>
            <a:spLocks noGrp="1"/>
          </p:cNvSpPr>
          <p:nvPr>
            <p:ph type="ftr" sz="quarter" idx="11"/>
          </p:nvPr>
        </p:nvSpPr>
        <p:spPr/>
        <p:txBody>
          <a:bodyPr/>
          <a:lstStyle/>
          <a:p>
            <a:r>
              <a:rPr lang="en-US"/>
              <a:t>Mini Project Topic Approval </a:t>
            </a:r>
            <a:endParaRPr lang="en-IN"/>
          </a:p>
        </p:txBody>
      </p:sp>
      <p:sp>
        <p:nvSpPr>
          <p:cNvPr id="7" name="Slide Number Placeholder 6">
            <a:extLst>
              <a:ext uri="{FF2B5EF4-FFF2-40B4-BE49-F238E27FC236}">
                <a16:creationId xmlns:a16="http://schemas.microsoft.com/office/drawing/2014/main" id="{E9722B11-F3F2-6658-C0FC-ADA62833ED85}"/>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1997477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068D4-DACB-41F6-C006-E015E9439A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ED6B2C-69DD-1C15-1478-F37EA713C4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46B3A40-07BE-711E-B202-58D6EE1F7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C7127-B30B-D29B-E78C-1D5068C14982}"/>
              </a:ext>
            </a:extLst>
          </p:cNvPr>
          <p:cNvSpPr>
            <a:spLocks noGrp="1"/>
          </p:cNvSpPr>
          <p:nvPr>
            <p:ph type="dt" sz="half" idx="10"/>
          </p:nvPr>
        </p:nvSpPr>
        <p:spPr/>
        <p:txBody>
          <a:bodyPr/>
          <a:lstStyle/>
          <a:p>
            <a:fld id="{18F27378-A834-435E-B07B-1A6BC177DEF9}" type="datetime1">
              <a:rPr lang="en-IN" smtClean="0"/>
              <a:t>13-02-2026</a:t>
            </a:fld>
            <a:endParaRPr lang="en-IN"/>
          </a:p>
        </p:txBody>
      </p:sp>
      <p:sp>
        <p:nvSpPr>
          <p:cNvPr id="6" name="Footer Placeholder 5">
            <a:extLst>
              <a:ext uri="{FF2B5EF4-FFF2-40B4-BE49-F238E27FC236}">
                <a16:creationId xmlns:a16="http://schemas.microsoft.com/office/drawing/2014/main" id="{EEFCF679-9193-CEEF-8D64-A14DF095F780}"/>
              </a:ext>
            </a:extLst>
          </p:cNvPr>
          <p:cNvSpPr>
            <a:spLocks noGrp="1"/>
          </p:cNvSpPr>
          <p:nvPr>
            <p:ph type="ftr" sz="quarter" idx="11"/>
          </p:nvPr>
        </p:nvSpPr>
        <p:spPr/>
        <p:txBody>
          <a:bodyPr/>
          <a:lstStyle/>
          <a:p>
            <a:r>
              <a:rPr lang="en-US"/>
              <a:t>Mini Project Topic Approval </a:t>
            </a:r>
            <a:endParaRPr lang="en-IN"/>
          </a:p>
        </p:txBody>
      </p:sp>
      <p:sp>
        <p:nvSpPr>
          <p:cNvPr id="7" name="Slide Number Placeholder 6">
            <a:extLst>
              <a:ext uri="{FF2B5EF4-FFF2-40B4-BE49-F238E27FC236}">
                <a16:creationId xmlns:a16="http://schemas.microsoft.com/office/drawing/2014/main" id="{FF5D2794-2755-ED4E-9D51-98854A5D6523}"/>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642945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6D129-3F3B-89DB-59A5-CB8675DA56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6E39D0-B559-B091-2418-EA4B18E1A7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1EB924-E4E2-96CB-CC5B-528F5D90EC38}"/>
              </a:ext>
            </a:extLst>
          </p:cNvPr>
          <p:cNvSpPr>
            <a:spLocks noGrp="1"/>
          </p:cNvSpPr>
          <p:nvPr>
            <p:ph type="dt" sz="half" idx="10"/>
          </p:nvPr>
        </p:nvSpPr>
        <p:spPr/>
        <p:txBody>
          <a:bodyPr/>
          <a:lstStyle/>
          <a:p>
            <a:fld id="{FBD3B8C7-EFC3-4BBB-B850-D4B6288CEB87}" type="datetime1">
              <a:rPr lang="en-IN" smtClean="0"/>
              <a:t>13-02-2026</a:t>
            </a:fld>
            <a:endParaRPr lang="en-IN"/>
          </a:p>
        </p:txBody>
      </p:sp>
      <p:sp>
        <p:nvSpPr>
          <p:cNvPr id="5" name="Footer Placeholder 4">
            <a:extLst>
              <a:ext uri="{FF2B5EF4-FFF2-40B4-BE49-F238E27FC236}">
                <a16:creationId xmlns:a16="http://schemas.microsoft.com/office/drawing/2014/main" id="{C17EC5B6-DA9C-BF14-19F9-E969A3F88287}"/>
              </a:ext>
            </a:extLst>
          </p:cNvPr>
          <p:cNvSpPr>
            <a:spLocks noGrp="1"/>
          </p:cNvSpPr>
          <p:nvPr>
            <p:ph type="ftr" sz="quarter" idx="11"/>
          </p:nvPr>
        </p:nvSpPr>
        <p:spPr/>
        <p:txBody>
          <a:bodyPr/>
          <a:lstStyle/>
          <a:p>
            <a:r>
              <a:rPr lang="en-US"/>
              <a:t>Mini Project Topic Approval </a:t>
            </a:r>
            <a:endParaRPr lang="en-IN"/>
          </a:p>
        </p:txBody>
      </p:sp>
      <p:sp>
        <p:nvSpPr>
          <p:cNvPr id="6" name="Slide Number Placeholder 5">
            <a:extLst>
              <a:ext uri="{FF2B5EF4-FFF2-40B4-BE49-F238E27FC236}">
                <a16:creationId xmlns:a16="http://schemas.microsoft.com/office/drawing/2014/main" id="{01B8BAA4-1CBC-3197-E45C-6269E07DED05}"/>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2993100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4272DB-7DE3-C4C4-2DB7-05183314B5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4DD95F-AF22-CA43-FEA3-10BC694E66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E99DC-D6BC-BA36-037E-66D44CE956E8}"/>
              </a:ext>
            </a:extLst>
          </p:cNvPr>
          <p:cNvSpPr>
            <a:spLocks noGrp="1"/>
          </p:cNvSpPr>
          <p:nvPr>
            <p:ph type="dt" sz="half" idx="10"/>
          </p:nvPr>
        </p:nvSpPr>
        <p:spPr/>
        <p:txBody>
          <a:bodyPr/>
          <a:lstStyle/>
          <a:p>
            <a:fld id="{6873A85C-DEF1-4983-8B84-A07C6D0B4CA0}" type="datetime1">
              <a:rPr lang="en-IN" smtClean="0"/>
              <a:t>13-02-2026</a:t>
            </a:fld>
            <a:endParaRPr lang="en-IN"/>
          </a:p>
        </p:txBody>
      </p:sp>
      <p:sp>
        <p:nvSpPr>
          <p:cNvPr id="5" name="Footer Placeholder 4">
            <a:extLst>
              <a:ext uri="{FF2B5EF4-FFF2-40B4-BE49-F238E27FC236}">
                <a16:creationId xmlns:a16="http://schemas.microsoft.com/office/drawing/2014/main" id="{AD1D2B76-DA0C-FC46-3F82-38E3A35F1946}"/>
              </a:ext>
            </a:extLst>
          </p:cNvPr>
          <p:cNvSpPr>
            <a:spLocks noGrp="1"/>
          </p:cNvSpPr>
          <p:nvPr>
            <p:ph type="ftr" sz="quarter" idx="11"/>
          </p:nvPr>
        </p:nvSpPr>
        <p:spPr/>
        <p:txBody>
          <a:bodyPr/>
          <a:lstStyle/>
          <a:p>
            <a:r>
              <a:rPr lang="en-US"/>
              <a:t>Mini Project Topic Approval </a:t>
            </a:r>
            <a:endParaRPr lang="en-IN"/>
          </a:p>
        </p:txBody>
      </p:sp>
      <p:sp>
        <p:nvSpPr>
          <p:cNvPr id="6" name="Slide Number Placeholder 5">
            <a:extLst>
              <a:ext uri="{FF2B5EF4-FFF2-40B4-BE49-F238E27FC236}">
                <a16:creationId xmlns:a16="http://schemas.microsoft.com/office/drawing/2014/main" id="{AD3C01FC-ADAB-B1A8-B32F-BA729C90C3AF}"/>
              </a:ext>
            </a:extLst>
          </p:cNvPr>
          <p:cNvSpPr>
            <a:spLocks noGrp="1"/>
          </p:cNvSpPr>
          <p:nvPr>
            <p:ph type="sldNum" sz="quarter" idx="12"/>
          </p:nvPr>
        </p:nvSpPr>
        <p:spPr/>
        <p:txBody>
          <a:bodyPr/>
          <a:lstStyle/>
          <a:p>
            <a:fld id="{54A0433F-D463-4C6D-93BB-5B095B314A64}" type="slidenum">
              <a:rPr lang="en-IN" smtClean="0"/>
              <a:t>‹#›</a:t>
            </a:fld>
            <a:endParaRPr lang="en-IN"/>
          </a:p>
        </p:txBody>
      </p:sp>
    </p:spTree>
    <p:extLst>
      <p:ext uri="{BB962C8B-B14F-4D97-AF65-F5344CB8AC3E}">
        <p14:creationId xmlns:p14="http://schemas.microsoft.com/office/powerpoint/2010/main" val="3761890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A1D164-C9EC-EE71-003A-C4E796D632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029051-B48E-D668-434B-30D9AF2CEA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53E7E0-E102-5BAD-B1A9-1C0B7138C2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6D2EB0-82D9-4497-B5B3-7698846BA1FA}" type="datetime1">
              <a:rPr lang="en-IN" smtClean="0"/>
              <a:t>13-02-2026</a:t>
            </a:fld>
            <a:endParaRPr lang="en-IN"/>
          </a:p>
        </p:txBody>
      </p:sp>
      <p:sp>
        <p:nvSpPr>
          <p:cNvPr id="5" name="Footer Placeholder 4">
            <a:extLst>
              <a:ext uri="{FF2B5EF4-FFF2-40B4-BE49-F238E27FC236}">
                <a16:creationId xmlns:a16="http://schemas.microsoft.com/office/drawing/2014/main" id="{3C67CD2A-5BD6-54CD-A85E-ABE7C315A9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Mini Project Topic Approval </a:t>
            </a:r>
            <a:endParaRPr lang="en-IN"/>
          </a:p>
        </p:txBody>
      </p:sp>
      <p:sp>
        <p:nvSpPr>
          <p:cNvPr id="6" name="Slide Number Placeholder 5">
            <a:extLst>
              <a:ext uri="{FF2B5EF4-FFF2-40B4-BE49-F238E27FC236}">
                <a16:creationId xmlns:a16="http://schemas.microsoft.com/office/drawing/2014/main" id="{C9252DB0-9B83-FE76-4E9E-8657FD6237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A0433F-D463-4C6D-93BB-5B095B314A64}" type="slidenum">
              <a:rPr lang="en-IN" smtClean="0"/>
              <a:t>‹#›</a:t>
            </a:fld>
            <a:endParaRPr lang="en-IN"/>
          </a:p>
        </p:txBody>
      </p:sp>
    </p:spTree>
    <p:extLst>
      <p:ext uri="{BB962C8B-B14F-4D97-AF65-F5344CB8AC3E}">
        <p14:creationId xmlns:p14="http://schemas.microsoft.com/office/powerpoint/2010/main" val="644650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xfrm>
            <a:off x="331284" y="1565085"/>
            <a:ext cx="11529428" cy="720915"/>
          </a:xfrm>
        </p:spPr>
        <p:txBody>
          <a:bodyPr>
            <a:normAutofit fontScale="90000"/>
          </a:bodyPr>
          <a:lstStyle/>
          <a:p>
            <a:r>
              <a:rPr lang="en-IN" sz="2400" dirty="0"/>
              <a:t>	</a:t>
            </a:r>
            <a:br>
              <a:rPr lang="en-IN" sz="2400" dirty="0"/>
            </a:br>
            <a:r>
              <a:rPr lang="en-IN" sz="3600" b="1" dirty="0" err="1">
                <a:latin typeface="Times New Roman" panose="02020603050405020304" pitchFamily="18" charset="0"/>
                <a:cs typeface="Times New Roman" panose="02020603050405020304" pitchFamily="18" charset="0"/>
              </a:rPr>
              <a:t>CivicMind</a:t>
            </a:r>
            <a:r>
              <a:rPr lang="en-IN" sz="3600" b="1" dirty="0">
                <a:latin typeface="Times New Roman" panose="02020603050405020304" pitchFamily="18" charset="0"/>
                <a:cs typeface="Times New Roman" panose="02020603050405020304" pitchFamily="18" charset="0"/>
              </a:rPr>
              <a:t> – AI based centralized Municipal grievance management system </a:t>
            </a:r>
          </a:p>
        </p:txBody>
      </p:sp>
      <p:sp>
        <p:nvSpPr>
          <p:cNvPr id="10" name="TextBox 9"/>
          <p:cNvSpPr txBox="1"/>
          <p:nvPr/>
        </p:nvSpPr>
        <p:spPr>
          <a:xfrm>
            <a:off x="786579" y="2122373"/>
            <a:ext cx="10618839" cy="3673121"/>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SDG goals - SDG11, SDG16</a:t>
            </a:r>
          </a:p>
          <a:p>
            <a:pPr marL="285750" indent="-28575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Category- Software</a:t>
            </a:r>
          </a:p>
          <a:p>
            <a:pPr marL="285750" indent="-28575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Group No - 7</a:t>
            </a:r>
          </a:p>
          <a:p>
            <a:pPr marL="285750" indent="-28575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Group Members – Ved Sawant, Vinay Patil, Pranay Bhere, Umesh Phulare. </a:t>
            </a:r>
          </a:p>
          <a:p>
            <a:pPr marL="285750" indent="-28575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Guide – Prof. Radhika B.</a:t>
            </a:r>
          </a:p>
        </p:txBody>
      </p:sp>
      <p:sp>
        <p:nvSpPr>
          <p:cNvPr id="3" name="Rectangle 2">
            <a:extLst>
              <a:ext uri="{FF2B5EF4-FFF2-40B4-BE49-F238E27FC236}">
                <a16:creationId xmlns:a16="http://schemas.microsoft.com/office/drawing/2014/main" id="{9BE37419-2682-870E-C9EC-A7BC79C5D402}"/>
              </a:ext>
            </a:extLst>
          </p:cNvPr>
          <p:cNvSpPr>
            <a:spLocks noChangeArrowheads="1"/>
          </p:cNvSpPr>
          <p:nvPr/>
        </p:nvSpPr>
        <p:spPr bwMode="auto">
          <a:xfrm>
            <a:off x="5309418" y="3200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3" name="Picture 12">
            <a:extLst>
              <a:ext uri="{FF2B5EF4-FFF2-40B4-BE49-F238E27FC236}">
                <a16:creationId xmlns:a16="http://schemas.microsoft.com/office/drawing/2014/main" id="{B4C48115-8201-6699-F073-36F0A3ECB48D}"/>
              </a:ext>
            </a:extLst>
          </p:cNvPr>
          <p:cNvPicPr>
            <a:picLocks noChangeAspect="1"/>
          </p:cNvPicPr>
          <p:nvPr/>
        </p:nvPicPr>
        <p:blipFill>
          <a:blip r:embed="rId2"/>
          <a:stretch>
            <a:fillRect/>
          </a:stretch>
        </p:blipFill>
        <p:spPr>
          <a:xfrm>
            <a:off x="2757716" y="159134"/>
            <a:ext cx="6073666" cy="1150720"/>
          </a:xfrm>
          <a:prstGeom prst="rect">
            <a:avLst/>
          </a:prstGeom>
        </p:spPr>
      </p:pic>
      <p:sp>
        <p:nvSpPr>
          <p:cNvPr id="14" name="Slide Number Placeholder 13">
            <a:extLst>
              <a:ext uri="{FF2B5EF4-FFF2-40B4-BE49-F238E27FC236}">
                <a16:creationId xmlns:a16="http://schemas.microsoft.com/office/drawing/2014/main" id="{B470A10F-CC39-0775-8661-CC72CAAEAA5C}"/>
              </a:ext>
            </a:extLst>
          </p:cNvPr>
          <p:cNvSpPr>
            <a:spLocks noGrp="1"/>
          </p:cNvSpPr>
          <p:nvPr>
            <p:ph type="sldNum" sz="quarter" idx="12"/>
          </p:nvPr>
        </p:nvSpPr>
        <p:spPr/>
        <p:txBody>
          <a:bodyPr/>
          <a:lstStyle/>
          <a:p>
            <a:fld id="{54A0433F-D463-4C6D-93BB-5B095B314A64}"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C7BA2-B3E9-7AAD-B1D3-C47BE82EE12B}"/>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Introduction</a:t>
            </a:r>
            <a:endParaRPr lang="en-IN" sz="48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D3C2C31-E40A-ADE0-51FF-A54AD13BF6D5}"/>
              </a:ext>
            </a:extLst>
          </p:cNvPr>
          <p:cNvSpPr>
            <a:spLocks noGrp="1"/>
          </p:cNvSpPr>
          <p:nvPr>
            <p:ph type="sldNum" sz="quarter" idx="12"/>
          </p:nvPr>
        </p:nvSpPr>
        <p:spPr/>
        <p:txBody>
          <a:bodyPr/>
          <a:lstStyle/>
          <a:p>
            <a:fld id="{54A0433F-D463-4C6D-93BB-5B095B314A64}" type="slidenum">
              <a:rPr lang="en-IN" smtClean="0"/>
              <a:t>2</a:t>
            </a:fld>
            <a:endParaRPr lang="en-IN"/>
          </a:p>
        </p:txBody>
      </p:sp>
      <p:sp>
        <p:nvSpPr>
          <p:cNvPr id="8" name="TextBox 7">
            <a:extLst>
              <a:ext uri="{FF2B5EF4-FFF2-40B4-BE49-F238E27FC236}">
                <a16:creationId xmlns:a16="http://schemas.microsoft.com/office/drawing/2014/main" id="{78C7D41C-E577-D1EC-525C-AF0B973ACD46}"/>
              </a:ext>
            </a:extLst>
          </p:cNvPr>
          <p:cNvSpPr txBox="1"/>
          <p:nvPr/>
        </p:nvSpPr>
        <p:spPr>
          <a:xfrm>
            <a:off x="838200" y="1595120"/>
            <a:ext cx="10398760" cy="4093428"/>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Innovative Technological Foundation</a:t>
            </a:r>
          </a:p>
          <a:p>
            <a:pPr algn="just"/>
            <a:r>
              <a:rPr lang="en-US" sz="2000" dirty="0" err="1">
                <a:latin typeface="Times New Roman" panose="02020603050405020304" pitchFamily="18" charset="0"/>
                <a:cs typeface="Times New Roman" panose="02020603050405020304" pitchFamily="18" charset="0"/>
              </a:rPr>
              <a:t>CivicMind</a:t>
            </a:r>
            <a:r>
              <a:rPr lang="en-US" sz="2000" dirty="0">
                <a:latin typeface="Times New Roman" panose="02020603050405020304" pitchFamily="18" charset="0"/>
                <a:cs typeface="Times New Roman" panose="02020603050405020304" pitchFamily="18" charset="0"/>
              </a:rPr>
              <a:t> delivers an AI-driven framework engineered for modern urban management complexities. Machine learning automates the grievance lifecycle from reporting to resolution, ensuring scalability during data surges.</a:t>
            </a: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Operational Excellence and Governance</a:t>
            </a:r>
          </a:p>
          <a:p>
            <a:pPr algn="just"/>
            <a:r>
              <a:rPr lang="en-US" sz="2000" dirty="0">
                <a:latin typeface="Times New Roman" panose="02020603050405020304" pitchFamily="18" charset="0"/>
                <a:cs typeface="Times New Roman" panose="02020603050405020304" pitchFamily="18" charset="0"/>
              </a:rPr>
              <a:t>The platform eliminates manual administrative friction through intelligent data processing, bridging gaps between municipal departments and residents for more responsive, precise governance.</a:t>
            </a: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Empowering Citizen Engagement</a:t>
            </a:r>
          </a:p>
          <a:p>
            <a:pPr algn="just"/>
            <a:r>
              <a:rPr lang="en-US" sz="2000" dirty="0">
                <a:latin typeface="Times New Roman" panose="02020603050405020304" pitchFamily="18" charset="0"/>
                <a:cs typeface="Times New Roman" panose="02020603050405020304" pitchFamily="18" charset="0"/>
              </a:rPr>
              <a:t>A transparent, user-centric interface enables real-time tracking and clear communication, transforming residents from passive observers into active participants who trust public institutions.</a:t>
            </a:r>
            <a:endParaRPr lang="en-US" sz="2000" b="1" dirty="0">
              <a:latin typeface="Times New Roman" panose="02020603050405020304" pitchFamily="18" charset="0"/>
              <a:cs typeface="Times New Roman" panose="02020603050405020304" pitchFamily="18" charset="0"/>
            </a:endParaRPr>
          </a:p>
          <a:p>
            <a:pPr algn="just"/>
            <a:endParaRPr lang="en-IN" sz="2000" b="1" dirty="0"/>
          </a:p>
        </p:txBody>
      </p:sp>
    </p:spTree>
    <p:extLst>
      <p:ext uri="{BB962C8B-B14F-4D97-AF65-F5344CB8AC3E}">
        <p14:creationId xmlns:p14="http://schemas.microsoft.com/office/powerpoint/2010/main" val="4090922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F11D8-E73E-691A-4B33-120F5332B0F8}"/>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Literature Survey</a:t>
            </a:r>
            <a:endParaRPr lang="en-IN" sz="4800" b="1" dirty="0">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id="{3DFA5391-5DF9-D3AD-E2A2-8D98894F5CDC}"/>
              </a:ext>
            </a:extLst>
          </p:cNvPr>
          <p:cNvGraphicFramePr>
            <a:graphicFrameLocks noGrp="1"/>
          </p:cNvGraphicFramePr>
          <p:nvPr>
            <p:ph idx="1"/>
            <p:extLst>
              <p:ext uri="{D42A27DB-BD31-4B8C-83A1-F6EECF244321}">
                <p14:modId xmlns:p14="http://schemas.microsoft.com/office/powerpoint/2010/main" val="4219375257"/>
              </p:ext>
            </p:extLst>
          </p:nvPr>
        </p:nvGraphicFramePr>
        <p:xfrm>
          <a:off x="426720" y="1402080"/>
          <a:ext cx="11369040" cy="5090793"/>
        </p:xfrm>
        <a:graphic>
          <a:graphicData uri="http://schemas.openxmlformats.org/drawingml/2006/table">
            <a:tbl>
              <a:tblPr>
                <a:tableStyleId>{69CF1AB2-1976-4502-BF36-3FF5EA218861}</a:tableStyleId>
              </a:tblPr>
              <a:tblGrid>
                <a:gridCol w="533832">
                  <a:extLst>
                    <a:ext uri="{9D8B030D-6E8A-4147-A177-3AD203B41FA5}">
                      <a16:colId xmlns:a16="http://schemas.microsoft.com/office/drawing/2014/main" val="3268032398"/>
                    </a:ext>
                  </a:extLst>
                </a:gridCol>
                <a:gridCol w="1236800">
                  <a:extLst>
                    <a:ext uri="{9D8B030D-6E8A-4147-A177-3AD203B41FA5}">
                      <a16:colId xmlns:a16="http://schemas.microsoft.com/office/drawing/2014/main" val="3554641233"/>
                    </a:ext>
                  </a:extLst>
                </a:gridCol>
                <a:gridCol w="2706158">
                  <a:extLst>
                    <a:ext uri="{9D8B030D-6E8A-4147-A177-3AD203B41FA5}">
                      <a16:colId xmlns:a16="http://schemas.microsoft.com/office/drawing/2014/main" val="2765126308"/>
                    </a:ext>
                  </a:extLst>
                </a:gridCol>
                <a:gridCol w="2325606">
                  <a:extLst>
                    <a:ext uri="{9D8B030D-6E8A-4147-A177-3AD203B41FA5}">
                      <a16:colId xmlns:a16="http://schemas.microsoft.com/office/drawing/2014/main" val="1822388600"/>
                    </a:ext>
                  </a:extLst>
                </a:gridCol>
                <a:gridCol w="4566644">
                  <a:extLst>
                    <a:ext uri="{9D8B030D-6E8A-4147-A177-3AD203B41FA5}">
                      <a16:colId xmlns:a16="http://schemas.microsoft.com/office/drawing/2014/main" val="798497016"/>
                    </a:ext>
                  </a:extLst>
                </a:gridCol>
              </a:tblGrid>
              <a:tr h="259108">
                <a:tc>
                  <a:txBody>
                    <a:bodyPr/>
                    <a:lstStyle/>
                    <a:p>
                      <a:pPr>
                        <a:buNone/>
                      </a:pPr>
                      <a:r>
                        <a:rPr lang="en-IN" sz="1500" dirty="0"/>
                        <a:t>Year</a:t>
                      </a:r>
                    </a:p>
                  </a:txBody>
                  <a:tcPr marL="22658" marR="22658" marT="11329" marB="11329" anchor="ctr"/>
                </a:tc>
                <a:tc>
                  <a:txBody>
                    <a:bodyPr/>
                    <a:lstStyle/>
                    <a:p>
                      <a:pPr>
                        <a:buNone/>
                      </a:pPr>
                      <a:r>
                        <a:rPr lang="en-IN" sz="1500"/>
                        <a:t>Author</a:t>
                      </a:r>
                    </a:p>
                  </a:txBody>
                  <a:tcPr marL="22658" marR="22658" marT="11329" marB="11329" anchor="ctr"/>
                </a:tc>
                <a:tc>
                  <a:txBody>
                    <a:bodyPr/>
                    <a:lstStyle/>
                    <a:p>
                      <a:pPr>
                        <a:buNone/>
                      </a:pPr>
                      <a:r>
                        <a:rPr lang="en-IN" sz="1500"/>
                        <a:t>Title</a:t>
                      </a:r>
                    </a:p>
                  </a:txBody>
                  <a:tcPr marL="22658" marR="22658" marT="11329" marB="11329" anchor="ctr"/>
                </a:tc>
                <a:tc>
                  <a:txBody>
                    <a:bodyPr/>
                    <a:lstStyle/>
                    <a:p>
                      <a:pPr>
                        <a:buNone/>
                      </a:pPr>
                      <a:r>
                        <a:rPr lang="en-IN" sz="1500"/>
                        <a:t>Technologies Used</a:t>
                      </a:r>
                    </a:p>
                  </a:txBody>
                  <a:tcPr marL="22658" marR="22658" marT="11329" marB="11329" anchor="ctr"/>
                </a:tc>
                <a:tc>
                  <a:txBody>
                    <a:bodyPr/>
                    <a:lstStyle/>
                    <a:p>
                      <a:pPr>
                        <a:buNone/>
                      </a:pPr>
                      <a:r>
                        <a:rPr lang="en-IN" sz="1500"/>
                        <a:t>Description</a:t>
                      </a:r>
                    </a:p>
                  </a:txBody>
                  <a:tcPr marL="22658" marR="22658" marT="11329" marB="11329" anchor="ctr"/>
                </a:tc>
                <a:extLst>
                  <a:ext uri="{0D108BD9-81ED-4DB2-BD59-A6C34878D82A}">
                    <a16:rowId xmlns:a16="http://schemas.microsoft.com/office/drawing/2014/main" val="2577302055"/>
                  </a:ext>
                </a:extLst>
              </a:tr>
              <a:tr h="966337">
                <a:tc>
                  <a:txBody>
                    <a:bodyPr/>
                    <a:lstStyle/>
                    <a:p>
                      <a:pPr>
                        <a:buNone/>
                      </a:pPr>
                      <a:r>
                        <a:rPr lang="en-IN" sz="1500" dirty="0"/>
                        <a:t>2023</a:t>
                      </a:r>
                    </a:p>
                  </a:txBody>
                  <a:tcPr marL="22658" marR="22658" marT="11329" marB="11329" anchor="ctr"/>
                </a:tc>
                <a:tc>
                  <a:txBody>
                    <a:bodyPr/>
                    <a:lstStyle/>
                    <a:p>
                      <a:pPr>
                        <a:buNone/>
                      </a:pPr>
                      <a:r>
                        <a:rPr lang="en-IN" sz="1500" dirty="0"/>
                        <a:t>K. Verma et al.</a:t>
                      </a:r>
                    </a:p>
                  </a:txBody>
                  <a:tcPr marL="22658" marR="22658" marT="11329" marB="11329" anchor="ctr"/>
                </a:tc>
                <a:tc>
                  <a:txBody>
                    <a:bodyPr/>
                    <a:lstStyle/>
                    <a:p>
                      <a:pPr>
                        <a:buNone/>
                      </a:pPr>
                      <a:r>
                        <a:rPr lang="en-US" sz="1500" dirty="0"/>
                        <a:t>Smart City Complaint Management System</a:t>
                      </a:r>
                    </a:p>
                  </a:txBody>
                  <a:tcPr marL="22658" marR="22658" marT="11329" marB="11329" anchor="ctr"/>
                </a:tc>
                <a:tc>
                  <a:txBody>
                    <a:bodyPr/>
                    <a:lstStyle/>
                    <a:p>
                      <a:pPr>
                        <a:buNone/>
                      </a:pPr>
                      <a:r>
                        <a:rPr lang="en-IN" sz="1500"/>
                        <a:t>Web Portal, MySQL, PHP</a:t>
                      </a:r>
                    </a:p>
                  </a:txBody>
                  <a:tcPr marL="22658" marR="22658" marT="11329" marB="11329" anchor="ctr"/>
                </a:tc>
                <a:tc>
                  <a:txBody>
                    <a:bodyPr/>
                    <a:lstStyle/>
                    <a:p>
                      <a:pPr>
                        <a:buNone/>
                      </a:pPr>
                      <a:r>
                        <a:rPr lang="en-US" sz="1500" dirty="0"/>
                        <a:t>This system proposes a centralized complaint portal for smart cities where citizens can submit complaints online. It improves accessibility but lacks AI-based complaint classification and automated routing mechanisms.</a:t>
                      </a:r>
                    </a:p>
                  </a:txBody>
                  <a:tcPr marL="22658" marR="22658" marT="11329" marB="11329" anchor="ctr"/>
                </a:tc>
                <a:extLst>
                  <a:ext uri="{0D108BD9-81ED-4DB2-BD59-A6C34878D82A}">
                    <a16:rowId xmlns:a16="http://schemas.microsoft.com/office/drawing/2014/main" val="837388865"/>
                  </a:ext>
                </a:extLst>
              </a:tr>
              <a:tr h="966337">
                <a:tc>
                  <a:txBody>
                    <a:bodyPr/>
                    <a:lstStyle/>
                    <a:p>
                      <a:pPr>
                        <a:buNone/>
                      </a:pPr>
                      <a:r>
                        <a:rPr lang="en-IN" sz="1500"/>
                        <a:t>2024</a:t>
                      </a:r>
                    </a:p>
                  </a:txBody>
                  <a:tcPr marL="22658" marR="22658" marT="11329" marB="11329" anchor="ctr"/>
                </a:tc>
                <a:tc>
                  <a:txBody>
                    <a:bodyPr/>
                    <a:lstStyle/>
                    <a:p>
                      <a:pPr>
                        <a:buNone/>
                      </a:pPr>
                      <a:r>
                        <a:rPr lang="en-IN" sz="1500"/>
                        <a:t>R. Singh et al.</a:t>
                      </a:r>
                    </a:p>
                  </a:txBody>
                  <a:tcPr marL="22658" marR="22658" marT="11329" marB="11329" anchor="ctr"/>
                </a:tc>
                <a:tc>
                  <a:txBody>
                    <a:bodyPr/>
                    <a:lstStyle/>
                    <a:p>
                      <a:pPr>
                        <a:buNone/>
                      </a:pPr>
                      <a:r>
                        <a:rPr lang="en-IN" sz="1500" dirty="0"/>
                        <a:t>AI-Based Grievance Redressal System</a:t>
                      </a:r>
                    </a:p>
                  </a:txBody>
                  <a:tcPr marL="22658" marR="22658" marT="11329" marB="11329" anchor="ctr"/>
                </a:tc>
                <a:tc>
                  <a:txBody>
                    <a:bodyPr/>
                    <a:lstStyle/>
                    <a:p>
                      <a:pPr>
                        <a:buNone/>
                      </a:pPr>
                      <a:r>
                        <a:rPr lang="en-IN" sz="1500" dirty="0"/>
                        <a:t>NLP, ML Classification, Web APIs</a:t>
                      </a:r>
                    </a:p>
                  </a:txBody>
                  <a:tcPr marL="22658" marR="22658" marT="11329" marB="11329" anchor="ctr"/>
                </a:tc>
                <a:tc>
                  <a:txBody>
                    <a:bodyPr/>
                    <a:lstStyle/>
                    <a:p>
                      <a:pPr>
                        <a:buNone/>
                      </a:pPr>
                      <a:r>
                        <a:rPr lang="en-US" sz="1500" dirty="0"/>
                        <a:t>The study uses NLP to categorize complaints automatically into predefined departments. While it enhances automation, it does not include image verification or real-time employee workload balancing.</a:t>
                      </a:r>
                    </a:p>
                  </a:txBody>
                  <a:tcPr marL="22658" marR="22658" marT="11329" marB="11329" anchor="ctr"/>
                </a:tc>
                <a:extLst>
                  <a:ext uri="{0D108BD9-81ED-4DB2-BD59-A6C34878D82A}">
                    <a16:rowId xmlns:a16="http://schemas.microsoft.com/office/drawing/2014/main" val="775689027"/>
                  </a:ext>
                </a:extLst>
              </a:tr>
              <a:tr h="966337">
                <a:tc>
                  <a:txBody>
                    <a:bodyPr/>
                    <a:lstStyle/>
                    <a:p>
                      <a:pPr>
                        <a:buNone/>
                      </a:pPr>
                      <a:r>
                        <a:rPr lang="en-IN" sz="1500"/>
                        <a:t>2023</a:t>
                      </a:r>
                    </a:p>
                  </a:txBody>
                  <a:tcPr marL="22658" marR="22658" marT="11329" marB="11329" anchor="ctr"/>
                </a:tc>
                <a:tc>
                  <a:txBody>
                    <a:bodyPr/>
                    <a:lstStyle/>
                    <a:p>
                      <a:pPr>
                        <a:buNone/>
                      </a:pPr>
                      <a:r>
                        <a:rPr lang="en-IN" sz="1500"/>
                        <a:t>M. Patel &amp; A. Joshi</a:t>
                      </a:r>
                    </a:p>
                  </a:txBody>
                  <a:tcPr marL="22658" marR="22658" marT="11329" marB="11329" anchor="ctr"/>
                </a:tc>
                <a:tc>
                  <a:txBody>
                    <a:bodyPr/>
                    <a:lstStyle/>
                    <a:p>
                      <a:pPr>
                        <a:buNone/>
                      </a:pPr>
                      <a:r>
                        <a:rPr lang="en-US" sz="1500" dirty="0"/>
                        <a:t>Civic Issue Reporting Using Mobile App</a:t>
                      </a:r>
                    </a:p>
                  </a:txBody>
                  <a:tcPr marL="22658" marR="22658" marT="11329" marB="11329" anchor="ctr"/>
                </a:tc>
                <a:tc>
                  <a:txBody>
                    <a:bodyPr/>
                    <a:lstStyle/>
                    <a:p>
                      <a:pPr>
                        <a:buNone/>
                      </a:pPr>
                      <a:r>
                        <a:rPr lang="nb-NO" sz="1500" dirty="0"/>
                        <a:t>Android App, GPS Tagging, Firebase</a:t>
                      </a:r>
                    </a:p>
                  </a:txBody>
                  <a:tcPr marL="22658" marR="22658" marT="11329" marB="11329" anchor="ctr"/>
                </a:tc>
                <a:tc>
                  <a:txBody>
                    <a:bodyPr/>
                    <a:lstStyle/>
                    <a:p>
                      <a:pPr>
                        <a:buNone/>
                      </a:pPr>
                      <a:r>
                        <a:rPr lang="en-US" sz="1500"/>
                        <a:t>This work focuses on mobile-based civic reporting with GPS tagging and status tracking. However, complaint assignment remains manual and no severity detection mechanism is implemented.</a:t>
                      </a:r>
                    </a:p>
                  </a:txBody>
                  <a:tcPr marL="22658" marR="22658" marT="11329" marB="11329" anchor="ctr"/>
                </a:tc>
                <a:extLst>
                  <a:ext uri="{0D108BD9-81ED-4DB2-BD59-A6C34878D82A}">
                    <a16:rowId xmlns:a16="http://schemas.microsoft.com/office/drawing/2014/main" val="1307615395"/>
                  </a:ext>
                </a:extLst>
              </a:tr>
              <a:tr h="966337">
                <a:tc>
                  <a:txBody>
                    <a:bodyPr/>
                    <a:lstStyle/>
                    <a:p>
                      <a:pPr>
                        <a:buNone/>
                      </a:pPr>
                      <a:r>
                        <a:rPr lang="en-IN" sz="1500"/>
                        <a:t>2024</a:t>
                      </a:r>
                    </a:p>
                  </a:txBody>
                  <a:tcPr marL="22658" marR="22658" marT="11329" marB="11329" anchor="ctr"/>
                </a:tc>
                <a:tc>
                  <a:txBody>
                    <a:bodyPr/>
                    <a:lstStyle/>
                    <a:p>
                      <a:pPr>
                        <a:buNone/>
                      </a:pPr>
                      <a:r>
                        <a:rPr lang="en-IN" sz="1500"/>
                        <a:t>S. Khan et al.</a:t>
                      </a:r>
                    </a:p>
                  </a:txBody>
                  <a:tcPr marL="22658" marR="22658" marT="11329" marB="11329" anchor="ctr"/>
                </a:tc>
                <a:tc>
                  <a:txBody>
                    <a:bodyPr/>
                    <a:lstStyle/>
                    <a:p>
                      <a:pPr>
                        <a:buNone/>
                      </a:pPr>
                      <a:r>
                        <a:rPr lang="en-IN" sz="1500" dirty="0"/>
                        <a:t>Automated Complaint Routing System</a:t>
                      </a:r>
                    </a:p>
                  </a:txBody>
                  <a:tcPr marL="22658" marR="22658" marT="11329" marB="11329" anchor="ctr"/>
                </a:tc>
                <a:tc>
                  <a:txBody>
                    <a:bodyPr/>
                    <a:lstStyle/>
                    <a:p>
                      <a:pPr>
                        <a:buNone/>
                      </a:pPr>
                      <a:r>
                        <a:rPr lang="en-IN" sz="1500"/>
                        <a:t>Rule-Based Engine, Cloud Database</a:t>
                      </a:r>
                    </a:p>
                  </a:txBody>
                  <a:tcPr marL="22658" marR="22658" marT="11329" marB="11329" anchor="ctr"/>
                </a:tc>
                <a:tc>
                  <a:txBody>
                    <a:bodyPr/>
                    <a:lstStyle/>
                    <a:p>
                      <a:pPr>
                        <a:buNone/>
                      </a:pPr>
                      <a:r>
                        <a:rPr lang="en-US" sz="1500"/>
                        <a:t>The system automates routing using rule-based mapping of complaint categories to departments. It improves routing efficiency but lacks AI-driven urgency detection and deduplication features.</a:t>
                      </a:r>
                    </a:p>
                  </a:txBody>
                  <a:tcPr marL="22658" marR="22658" marT="11329" marB="11329" anchor="ctr"/>
                </a:tc>
                <a:extLst>
                  <a:ext uri="{0D108BD9-81ED-4DB2-BD59-A6C34878D82A}">
                    <a16:rowId xmlns:a16="http://schemas.microsoft.com/office/drawing/2014/main" val="1864562187"/>
                  </a:ext>
                </a:extLst>
              </a:tr>
              <a:tr h="966337">
                <a:tc>
                  <a:txBody>
                    <a:bodyPr/>
                    <a:lstStyle/>
                    <a:p>
                      <a:pPr>
                        <a:buNone/>
                      </a:pPr>
                      <a:r>
                        <a:rPr lang="en-IN" sz="1500"/>
                        <a:t>2022</a:t>
                      </a:r>
                    </a:p>
                  </a:txBody>
                  <a:tcPr marL="22658" marR="22658" marT="11329" marB="11329" anchor="ctr"/>
                </a:tc>
                <a:tc>
                  <a:txBody>
                    <a:bodyPr/>
                    <a:lstStyle/>
                    <a:p>
                      <a:pPr>
                        <a:buNone/>
                      </a:pPr>
                      <a:r>
                        <a:rPr lang="en-IN" sz="1500"/>
                        <a:t>J. Brown et al.</a:t>
                      </a:r>
                    </a:p>
                  </a:txBody>
                  <a:tcPr marL="22658" marR="22658" marT="11329" marB="11329" anchor="ctr"/>
                </a:tc>
                <a:tc>
                  <a:txBody>
                    <a:bodyPr/>
                    <a:lstStyle/>
                    <a:p>
                      <a:pPr>
                        <a:buNone/>
                      </a:pPr>
                      <a:r>
                        <a:rPr lang="en-IN" sz="1500"/>
                        <a:t>Image-Based Urban Issue Detection</a:t>
                      </a:r>
                    </a:p>
                  </a:txBody>
                  <a:tcPr marL="22658" marR="22658" marT="11329" marB="11329" anchor="ctr"/>
                </a:tc>
                <a:tc>
                  <a:txBody>
                    <a:bodyPr/>
                    <a:lstStyle/>
                    <a:p>
                      <a:pPr>
                        <a:buNone/>
                      </a:pPr>
                      <a:r>
                        <a:rPr lang="en-IN" sz="1500" dirty="0"/>
                        <a:t>CNN, Computer Vision</a:t>
                      </a:r>
                    </a:p>
                  </a:txBody>
                  <a:tcPr marL="22658" marR="22658" marT="11329" marB="11329" anchor="ctr"/>
                </a:tc>
                <a:tc>
                  <a:txBody>
                    <a:bodyPr/>
                    <a:lstStyle/>
                    <a:p>
                      <a:pPr>
                        <a:buNone/>
                      </a:pPr>
                      <a:r>
                        <a:rPr lang="en-US" sz="1500" dirty="0"/>
                        <a:t>This research applies CNN models to detect urban infrastructure issues from images. It improves issue recognition accuracy but does not integrate full complaint lifecycle management or citizen feedback loops.</a:t>
                      </a:r>
                    </a:p>
                  </a:txBody>
                  <a:tcPr marL="22658" marR="22658" marT="11329" marB="11329" anchor="ctr"/>
                </a:tc>
                <a:extLst>
                  <a:ext uri="{0D108BD9-81ED-4DB2-BD59-A6C34878D82A}">
                    <a16:rowId xmlns:a16="http://schemas.microsoft.com/office/drawing/2014/main" val="185513971"/>
                  </a:ext>
                </a:extLst>
              </a:tr>
            </a:tbl>
          </a:graphicData>
        </a:graphic>
      </p:graphicFrame>
      <p:sp>
        <p:nvSpPr>
          <p:cNvPr id="5" name="Slide Number Placeholder 4">
            <a:extLst>
              <a:ext uri="{FF2B5EF4-FFF2-40B4-BE49-F238E27FC236}">
                <a16:creationId xmlns:a16="http://schemas.microsoft.com/office/drawing/2014/main" id="{0C99D1C9-3341-ED73-5F24-8F2E33A4E7E3}"/>
              </a:ext>
            </a:extLst>
          </p:cNvPr>
          <p:cNvSpPr>
            <a:spLocks noGrp="1"/>
          </p:cNvSpPr>
          <p:nvPr>
            <p:ph type="sldNum" sz="quarter" idx="12"/>
          </p:nvPr>
        </p:nvSpPr>
        <p:spPr/>
        <p:txBody>
          <a:bodyPr/>
          <a:lstStyle/>
          <a:p>
            <a:fld id="{54A0433F-D463-4C6D-93BB-5B095B314A64}" type="slidenum">
              <a:rPr lang="en-IN" smtClean="0"/>
              <a:t>3</a:t>
            </a:fld>
            <a:endParaRPr lang="en-IN"/>
          </a:p>
        </p:txBody>
      </p:sp>
    </p:spTree>
    <p:extLst>
      <p:ext uri="{BB962C8B-B14F-4D97-AF65-F5344CB8AC3E}">
        <p14:creationId xmlns:p14="http://schemas.microsoft.com/office/powerpoint/2010/main" val="4008867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811DB-082F-8A74-5D6B-5206BD8DD7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5C389-674A-644C-9A58-C478DEC81B65}"/>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Literature Survey</a:t>
            </a:r>
            <a:endParaRPr lang="en-IN" sz="48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76EF94A-9F14-F214-30D5-7D4B7BF8AAE7}"/>
              </a:ext>
            </a:extLst>
          </p:cNvPr>
          <p:cNvSpPr>
            <a:spLocks noGrp="1"/>
          </p:cNvSpPr>
          <p:nvPr>
            <p:ph type="sldNum" sz="quarter" idx="12"/>
          </p:nvPr>
        </p:nvSpPr>
        <p:spPr/>
        <p:txBody>
          <a:bodyPr/>
          <a:lstStyle/>
          <a:p>
            <a:fld id="{54A0433F-D463-4C6D-93BB-5B095B314A64}" type="slidenum">
              <a:rPr lang="en-IN" smtClean="0"/>
              <a:t>4</a:t>
            </a:fld>
            <a:endParaRPr lang="en-IN"/>
          </a:p>
        </p:txBody>
      </p:sp>
      <p:graphicFrame>
        <p:nvGraphicFramePr>
          <p:cNvPr id="6" name="Table 5">
            <a:extLst>
              <a:ext uri="{FF2B5EF4-FFF2-40B4-BE49-F238E27FC236}">
                <a16:creationId xmlns:a16="http://schemas.microsoft.com/office/drawing/2014/main" id="{E197D5DA-6093-9D63-9070-C928373CBDD5}"/>
              </a:ext>
            </a:extLst>
          </p:cNvPr>
          <p:cNvGraphicFramePr>
            <a:graphicFrameLocks noGrp="1"/>
          </p:cNvGraphicFramePr>
          <p:nvPr>
            <p:extLst>
              <p:ext uri="{D42A27DB-BD31-4B8C-83A1-F6EECF244321}">
                <p14:modId xmlns:p14="http://schemas.microsoft.com/office/powerpoint/2010/main" val="2335686228"/>
              </p:ext>
            </p:extLst>
          </p:nvPr>
        </p:nvGraphicFramePr>
        <p:xfrm>
          <a:off x="396240" y="1564640"/>
          <a:ext cx="11450320" cy="4948996"/>
        </p:xfrm>
        <a:graphic>
          <a:graphicData uri="http://schemas.openxmlformats.org/drawingml/2006/table">
            <a:tbl>
              <a:tblPr/>
              <a:tblGrid>
                <a:gridCol w="599440">
                  <a:extLst>
                    <a:ext uri="{9D8B030D-6E8A-4147-A177-3AD203B41FA5}">
                      <a16:colId xmlns:a16="http://schemas.microsoft.com/office/drawing/2014/main" val="3244161183"/>
                    </a:ext>
                  </a:extLst>
                </a:gridCol>
                <a:gridCol w="1463040">
                  <a:extLst>
                    <a:ext uri="{9D8B030D-6E8A-4147-A177-3AD203B41FA5}">
                      <a16:colId xmlns:a16="http://schemas.microsoft.com/office/drawing/2014/main" val="708306436"/>
                    </a:ext>
                  </a:extLst>
                </a:gridCol>
                <a:gridCol w="1899920">
                  <a:extLst>
                    <a:ext uri="{9D8B030D-6E8A-4147-A177-3AD203B41FA5}">
                      <a16:colId xmlns:a16="http://schemas.microsoft.com/office/drawing/2014/main" val="3807436946"/>
                    </a:ext>
                  </a:extLst>
                </a:gridCol>
                <a:gridCol w="2357120">
                  <a:extLst>
                    <a:ext uri="{9D8B030D-6E8A-4147-A177-3AD203B41FA5}">
                      <a16:colId xmlns:a16="http://schemas.microsoft.com/office/drawing/2014/main" val="3634468491"/>
                    </a:ext>
                  </a:extLst>
                </a:gridCol>
                <a:gridCol w="5130800">
                  <a:extLst>
                    <a:ext uri="{9D8B030D-6E8A-4147-A177-3AD203B41FA5}">
                      <a16:colId xmlns:a16="http://schemas.microsoft.com/office/drawing/2014/main" val="3753991562"/>
                    </a:ext>
                  </a:extLst>
                </a:gridCol>
              </a:tblGrid>
              <a:tr h="239156">
                <a:tc>
                  <a:txBody>
                    <a:bodyPr/>
                    <a:lstStyle/>
                    <a:p>
                      <a:pPr algn="ctr">
                        <a:buNone/>
                      </a:pPr>
                      <a:r>
                        <a:rPr lang="en-IN" sz="1400" b="1" dirty="0">
                          <a:latin typeface="Times New Roman" panose="02020603050405020304" pitchFamily="18" charset="0"/>
                          <a:cs typeface="Times New Roman" panose="02020603050405020304" pitchFamily="18" charset="0"/>
                        </a:rPr>
                        <a:t>Year</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a:latin typeface="Times New Roman" panose="02020603050405020304" pitchFamily="18" charset="0"/>
                          <a:cs typeface="Times New Roman" panose="02020603050405020304" pitchFamily="18" charset="0"/>
                        </a:rPr>
                        <a:t>Author(s)</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a:latin typeface="Times New Roman" panose="02020603050405020304" pitchFamily="18" charset="0"/>
                          <a:cs typeface="Times New Roman" panose="02020603050405020304" pitchFamily="18" charset="0"/>
                        </a:rPr>
                        <a:t>Title</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latin typeface="Times New Roman" panose="02020603050405020304" pitchFamily="18" charset="0"/>
                          <a:cs typeface="Times New Roman" panose="02020603050405020304" pitchFamily="18" charset="0"/>
                        </a:rPr>
                        <a:t>Technology Used</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latin typeface="Times New Roman" panose="02020603050405020304" pitchFamily="18" charset="0"/>
                          <a:cs typeface="Times New Roman" panose="02020603050405020304" pitchFamily="18" charset="0"/>
                        </a:rPr>
                        <a:t>Description</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3713166"/>
                  </a:ext>
                </a:extLst>
              </a:tr>
              <a:tr h="959724">
                <a:tc>
                  <a:txBody>
                    <a:bodyPr/>
                    <a:lstStyle/>
                    <a:p>
                      <a:pPr algn="just">
                        <a:buNone/>
                      </a:pPr>
                      <a:r>
                        <a:rPr lang="en-IN" sz="1200" b="1" dirty="0">
                          <a:latin typeface="Times New Roman" panose="02020603050405020304" pitchFamily="18" charset="0"/>
                          <a:cs typeface="Times New Roman" panose="02020603050405020304" pitchFamily="18" charset="0"/>
                        </a:rPr>
                        <a:t>2024</a:t>
                      </a:r>
                      <a:endParaRPr lang="en-IN" sz="1200" dirty="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dirty="0">
                          <a:latin typeface="Times New Roman" panose="02020603050405020304" pitchFamily="18" charset="0"/>
                          <a:cs typeface="Times New Roman" panose="02020603050405020304" pitchFamily="18" charset="0"/>
                        </a:rPr>
                        <a:t>Anurag Saha, Aadarsh </a:t>
                      </a:r>
                      <a:r>
                        <a:rPr lang="en-IN" sz="1200" dirty="0" err="1">
                          <a:latin typeface="Times New Roman" panose="02020603050405020304" pitchFamily="18" charset="0"/>
                          <a:cs typeface="Times New Roman" panose="02020603050405020304" pitchFamily="18" charset="0"/>
                        </a:rPr>
                        <a:t>Chaure</a:t>
                      </a:r>
                      <a:r>
                        <a:rPr lang="en-IN" sz="1200" dirty="0">
                          <a:latin typeface="Times New Roman" panose="02020603050405020304" pitchFamily="18" charset="0"/>
                          <a:cs typeface="Times New Roman" panose="02020603050405020304" pitchFamily="18" charset="0"/>
                        </a:rPr>
                        <a:t>, Aayush, Aditya Bodhe, Prof. T.D. Bhagat</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200" i="1" dirty="0">
                          <a:latin typeface="Times New Roman" panose="02020603050405020304" pitchFamily="18" charset="0"/>
                          <a:cs typeface="Times New Roman" panose="02020603050405020304" pitchFamily="18" charset="0"/>
                        </a:rPr>
                        <a:t>Automated Complaint Classification and Routing Using NLP and Machine Learning</a:t>
                      </a:r>
                      <a:endParaRPr lang="en-US" sz="1200" dirty="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dirty="0">
                          <a:latin typeface="Times New Roman" panose="02020603050405020304" pitchFamily="18" charset="0"/>
                          <a:cs typeface="Times New Roman" panose="02020603050405020304" pitchFamily="18" charset="0"/>
                        </a:rPr>
                        <a:t>TF-IDF, BERT, Logistic Regression, SVM, Random Forest, KNN, Naive Bayes</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200" dirty="0">
                          <a:latin typeface="Times New Roman" panose="02020603050405020304" pitchFamily="18" charset="0"/>
                          <a:cs typeface="Times New Roman" panose="02020603050405020304" pitchFamily="18" charset="0"/>
                        </a:rPr>
                        <a:t>Proposes an automated complaint classification and routing system using NLP and ML techniques. Uses TF-IDF and BERT embeddings for feature extraction and compares classical ML models with deep learning models. Demonstrates improved routing efficiency and reduced manual workload.</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223976"/>
                  </a:ext>
                </a:extLst>
              </a:tr>
              <a:tr h="864387">
                <a:tc>
                  <a:txBody>
                    <a:bodyPr/>
                    <a:lstStyle/>
                    <a:p>
                      <a:pPr algn="just">
                        <a:buNone/>
                      </a:pPr>
                      <a:r>
                        <a:rPr lang="en-IN" sz="1200" b="1" dirty="0">
                          <a:latin typeface="Times New Roman" panose="02020603050405020304" pitchFamily="18" charset="0"/>
                          <a:cs typeface="Times New Roman" panose="02020603050405020304" pitchFamily="18" charset="0"/>
                        </a:rPr>
                        <a:t>2022</a:t>
                      </a:r>
                      <a:endParaRPr lang="en-IN" sz="1200" dirty="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a:latin typeface="Times New Roman" panose="02020603050405020304" pitchFamily="18" charset="0"/>
                          <a:cs typeface="Times New Roman" panose="02020603050405020304" pitchFamily="18" charset="0"/>
                        </a:rPr>
                        <a:t>Dnyanesh Walwadkar, Jayesh Patil, Mujahid Hussain, Saurav Yadav</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200" i="1" dirty="0">
                          <a:latin typeface="Times New Roman" panose="02020603050405020304" pitchFamily="18" charset="0"/>
                          <a:cs typeface="Times New Roman" panose="02020603050405020304" pitchFamily="18" charset="0"/>
                        </a:rPr>
                        <a:t>Smart Civic Issue Reporting System</a:t>
                      </a:r>
                      <a:endParaRPr lang="en-US" sz="1200" dirty="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dirty="0">
                          <a:latin typeface="Times New Roman" panose="02020603050405020304" pitchFamily="18" charset="0"/>
                          <a:cs typeface="Times New Roman" panose="02020603050405020304" pitchFamily="18" charset="0"/>
                        </a:rPr>
                        <a:t>Android App, CNN-RNN Hybrid Model, SVM-NLP, GPS, Cloud Computing</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dirty="0">
                          <a:latin typeface="Times New Roman" panose="02020603050405020304" pitchFamily="18" charset="0"/>
                          <a:cs typeface="Times New Roman" panose="02020603050405020304" pitchFamily="18" charset="0"/>
                        </a:rPr>
                        <a:t>Develops an Android-based civic issue reporting system. Uses a hybrid CNN-RNN image processing algorithm and SVM-based NLP model to detect complaint severity. Incorporates GPS for geo-location and cloud backend for routing complaints to authorities.</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2536561"/>
                  </a:ext>
                </a:extLst>
              </a:tr>
              <a:tr h="920759">
                <a:tc>
                  <a:txBody>
                    <a:bodyPr/>
                    <a:lstStyle/>
                    <a:p>
                      <a:pPr algn="just">
                        <a:buNone/>
                      </a:pPr>
                      <a:r>
                        <a:rPr lang="en-IN" sz="1200" b="1" dirty="0">
                          <a:latin typeface="Times New Roman" panose="02020603050405020304" pitchFamily="18" charset="0"/>
                          <a:cs typeface="Times New Roman" panose="02020603050405020304" pitchFamily="18" charset="0"/>
                        </a:rPr>
                        <a:t>2025</a:t>
                      </a:r>
                      <a:endParaRPr lang="en-IN" sz="1200" dirty="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a:latin typeface="Times New Roman" panose="02020603050405020304" pitchFamily="18" charset="0"/>
                          <a:cs typeface="Times New Roman" panose="02020603050405020304" pitchFamily="18" charset="0"/>
                        </a:rPr>
                        <a:t>C. Ashwitha, K. Vani</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200" i="1">
                          <a:latin typeface="Times New Roman" panose="02020603050405020304" pitchFamily="18" charset="0"/>
                          <a:cs typeface="Times New Roman" panose="02020603050405020304" pitchFamily="18" charset="0"/>
                        </a:rPr>
                        <a:t>Smart Civic Complaint Analyzer Using Natural Language Processing</a:t>
                      </a:r>
                      <a:endParaRPr lang="en-US" sz="120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a:latin typeface="Times New Roman" panose="02020603050405020304" pitchFamily="18" charset="0"/>
                          <a:cs typeface="Times New Roman" panose="02020603050405020304" pitchFamily="18" charset="0"/>
                        </a:rPr>
                        <a:t>Python, Streamlit, TF-IDF, Multinomial Naive Bayes, Pandas, Word Cloud</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200" dirty="0">
                          <a:latin typeface="Times New Roman" panose="02020603050405020304" pitchFamily="18" charset="0"/>
                          <a:cs typeface="Times New Roman" panose="02020603050405020304" pitchFamily="18" charset="0"/>
                        </a:rPr>
                        <a:t>Presents a web-based civic complaint analyzer. Uses NLP techniques for complaint classification and urgency detection. Implements TF-IDF and Naive Bayes for categorization and provides dashboards with visualization tools such as pie charts and word clouds.</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2507235"/>
                  </a:ext>
                </a:extLst>
              </a:tr>
              <a:tr h="1033506">
                <a:tc>
                  <a:txBody>
                    <a:bodyPr/>
                    <a:lstStyle/>
                    <a:p>
                      <a:pPr algn="just">
                        <a:buNone/>
                      </a:pPr>
                      <a:r>
                        <a:rPr lang="en-IN" sz="1200" b="1" dirty="0">
                          <a:latin typeface="Times New Roman" panose="02020603050405020304" pitchFamily="18" charset="0"/>
                          <a:cs typeface="Times New Roman" panose="02020603050405020304" pitchFamily="18" charset="0"/>
                        </a:rPr>
                        <a:t>2025</a:t>
                      </a:r>
                      <a:endParaRPr lang="en-IN" sz="1200" dirty="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a:latin typeface="Times New Roman" panose="02020603050405020304" pitchFamily="18" charset="0"/>
                          <a:cs typeface="Times New Roman" panose="02020603050405020304" pitchFamily="18" charset="0"/>
                        </a:rPr>
                        <a:t>Catalina Sierra, Fernando Huanca, Mario Torres, Felipe Núñez</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200" i="1">
                          <a:latin typeface="Times New Roman" panose="02020603050405020304" pitchFamily="18" charset="0"/>
                          <a:cs typeface="Times New Roman" panose="02020603050405020304" pitchFamily="18" charset="0"/>
                        </a:rPr>
                        <a:t>An Integrated Complaint Management System Based on Large Language Models: Case Study in the Electric Sector</a:t>
                      </a:r>
                      <a:endParaRPr lang="en-US" sz="120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a:latin typeface="Times New Roman" panose="02020603050405020304" pitchFamily="18" charset="0"/>
                          <a:cs typeface="Times New Roman" panose="02020603050405020304" pitchFamily="18" charset="0"/>
                        </a:rPr>
                        <a:t>Large Language Models (BERT, BETO, BERTIN, ALBERT, GPT-4o, LLaMA 3.1), Ensemble Voting, Redis, ArangoDB, Service-Oriented Architecture</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200">
                          <a:latin typeface="Times New Roman" panose="02020603050405020304" pitchFamily="18" charset="0"/>
                          <a:cs typeface="Times New Roman" panose="02020603050405020304" pitchFamily="18" charset="0"/>
                        </a:rPr>
                        <a:t>Proposes an end-to-end automated complaint management system using fine-tuned LLMs. Employs ensemble classification and complaint summarization. Designed for electricity sector complaints with scalable microservice architecture and performance evaluation.</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2739666"/>
                  </a:ext>
                </a:extLst>
              </a:tr>
              <a:tr h="808014">
                <a:tc>
                  <a:txBody>
                    <a:bodyPr/>
                    <a:lstStyle/>
                    <a:p>
                      <a:pPr algn="just">
                        <a:buNone/>
                      </a:pPr>
                      <a:r>
                        <a:rPr lang="en-IN" sz="1200" b="1" dirty="0">
                          <a:latin typeface="Times New Roman" panose="02020603050405020304" pitchFamily="18" charset="0"/>
                          <a:cs typeface="Times New Roman" panose="02020603050405020304" pitchFamily="18" charset="0"/>
                        </a:rPr>
                        <a:t>2018</a:t>
                      </a:r>
                      <a:endParaRPr lang="en-IN" sz="1200" dirty="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a:latin typeface="Times New Roman" panose="02020603050405020304" pitchFamily="18" charset="0"/>
                          <a:cs typeface="Times New Roman" panose="02020603050405020304" pitchFamily="18" charset="0"/>
                        </a:rPr>
                        <a:t>Siripen Pongpaichet, Pattamaporn Kormpho, Panida Liawsomboon, Narut Phongoen</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200" i="1">
                          <a:latin typeface="Times New Roman" panose="02020603050405020304" pitchFamily="18" charset="0"/>
                          <a:cs typeface="Times New Roman" panose="02020603050405020304" pitchFamily="18" charset="0"/>
                        </a:rPr>
                        <a:t>Smart Complaint Management System (SCMS)</a:t>
                      </a:r>
                      <a:endParaRPr lang="en-IN" sz="1200">
                        <a:latin typeface="Times New Roman" panose="02020603050405020304" pitchFamily="18" charset="0"/>
                        <a:cs typeface="Times New Roman" panose="02020603050405020304" pitchFamily="18" charset="0"/>
                      </a:endParaRP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200">
                          <a:latin typeface="Times New Roman" panose="02020603050405020304" pitchFamily="18" charset="0"/>
                          <a:cs typeface="Times New Roman" panose="02020603050405020304" pitchFamily="18" charset="0"/>
                        </a:rPr>
                        <a:t>Mobile App, Chatbot, Web Application, Machine Learning (Naive Bayes, SVM), Cloud Computing</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200" dirty="0">
                          <a:latin typeface="Times New Roman" panose="02020603050405020304" pitchFamily="18" charset="0"/>
                          <a:cs typeface="Times New Roman" panose="02020603050405020304" pitchFamily="18" charset="0"/>
                        </a:rPr>
                        <a:t>Introduces SCMS integrating mobile app, chatbot, and web dashboard. Uses ML-based complaint classification and duplicate detection. Improves complaint tracking, routing, and management efficiency in an academic institutional setting.</a:t>
                      </a:r>
                    </a:p>
                  </a:txBody>
                  <a:tcPr marL="17064" marR="17064" marT="8532" marB="85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5658061"/>
                  </a:ext>
                </a:extLst>
              </a:tr>
            </a:tbl>
          </a:graphicData>
        </a:graphic>
      </p:graphicFrame>
    </p:spTree>
    <p:extLst>
      <p:ext uri="{BB962C8B-B14F-4D97-AF65-F5344CB8AC3E}">
        <p14:creationId xmlns:p14="http://schemas.microsoft.com/office/powerpoint/2010/main" val="3907730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6BF9B-B432-41CB-3F3F-A45FB264D25F}"/>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Limitations of Existing Systems </a:t>
            </a:r>
            <a:endParaRPr lang="en-IN"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3D5C1DF-466E-C0DD-38E9-A1D5F240F1D0}"/>
              </a:ext>
            </a:extLst>
          </p:cNvPr>
          <p:cNvSpPr>
            <a:spLocks noGrp="1"/>
          </p:cNvSpPr>
          <p:nvPr>
            <p:ph type="sldNum" sz="quarter" idx="12"/>
          </p:nvPr>
        </p:nvSpPr>
        <p:spPr/>
        <p:txBody>
          <a:bodyPr/>
          <a:lstStyle/>
          <a:p>
            <a:fld id="{54A0433F-D463-4C6D-93BB-5B095B314A64}" type="slidenum">
              <a:rPr lang="en-IN" smtClean="0"/>
              <a:t>5</a:t>
            </a:fld>
            <a:endParaRPr lang="en-IN"/>
          </a:p>
        </p:txBody>
      </p:sp>
      <p:sp>
        <p:nvSpPr>
          <p:cNvPr id="7" name="Rectangle 2">
            <a:extLst>
              <a:ext uri="{FF2B5EF4-FFF2-40B4-BE49-F238E27FC236}">
                <a16:creationId xmlns:a16="http://schemas.microsoft.com/office/drawing/2014/main" id="{C2A0E6DA-50E1-844D-F2B8-F7E052FB9BE7}"/>
              </a:ext>
            </a:extLst>
          </p:cNvPr>
          <p:cNvSpPr>
            <a:spLocks noGrp="1" noChangeArrowheads="1"/>
          </p:cNvSpPr>
          <p:nvPr>
            <p:ph idx="1"/>
          </p:nvPr>
        </p:nvSpPr>
        <p:spPr bwMode="auto">
          <a:xfrm>
            <a:off x="838200" y="2258617"/>
            <a:ext cx="10515600"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None/>
            </a:pP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urgency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Every complaint is treated with equal priority because the system lacks the intelligence to identify and fast-track life-threatening or time-sensitive emergencies</a:t>
            </a:r>
          </a:p>
          <a:p>
            <a:pPr algn="just" eaLnBrk="0" fontAlgn="base" hangingPunct="0">
              <a:lnSpc>
                <a:spcPct val="100000"/>
              </a:lnSpc>
              <a:spcBef>
                <a:spcPct val="0"/>
              </a:spcBef>
              <a:spcAft>
                <a:spcPct val="0"/>
              </a:spcAft>
            </a:pP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complaint assignment: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Human administrators must hand-sort every ticket, which creates a massive operational bottleneck and slows down the initial response time.</a:t>
            </a:r>
          </a:p>
          <a:p>
            <a:pPr algn="just" eaLnBrk="0" fontAlgn="base" hangingPunct="0">
              <a:lnSpc>
                <a:spcPct val="100000"/>
              </a:lnSpc>
              <a:spcBef>
                <a:spcPct val="0"/>
              </a:spcBef>
              <a:spcAft>
                <a:spcPct val="0"/>
              </a:spcAft>
            </a:pP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workload balancing: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Tasks are assigned without considering current staff capacity, often resulting in some employees being overwhelmed while others remain underutilized.</a:t>
            </a:r>
          </a:p>
          <a:p>
            <a:pPr algn="just" eaLnBrk="0" fontAlgn="base" hangingPunct="0">
              <a:lnSpc>
                <a:spcPct val="100000"/>
              </a:lnSpc>
              <a:spcBef>
                <a:spcPct val="0"/>
              </a:spcBef>
              <a:spcAft>
                <a:spcPct val="0"/>
              </a:spcAft>
            </a:pP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transparency &amp; tracking: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Citizens are left in the dark about who is handling their issue or how much progress has been made, which erodes public trust in the system.</a:t>
            </a:r>
          </a:p>
        </p:txBody>
      </p:sp>
    </p:spTree>
    <p:extLst>
      <p:ext uri="{BB962C8B-B14F-4D97-AF65-F5344CB8AC3E}">
        <p14:creationId xmlns:p14="http://schemas.microsoft.com/office/powerpoint/2010/main" val="2696936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621FA-AE05-872D-9DD5-25AB46D94FC5}"/>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Problem Statement &amp; Objectives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0CB693-F64B-28CF-496C-773C7CCB60DD}"/>
              </a:ext>
            </a:extLst>
          </p:cNvPr>
          <p:cNvSpPr>
            <a:spLocks noGrp="1"/>
          </p:cNvSpPr>
          <p:nvPr>
            <p:ph idx="1"/>
          </p:nvPr>
        </p:nvSpPr>
        <p:spPr>
          <a:xfrm>
            <a:off x="838200" y="1825625"/>
            <a:ext cx="10175240" cy="4351338"/>
          </a:xfrm>
        </p:spPr>
        <p:txBody>
          <a:bodyPr>
            <a:normAutofit/>
          </a:bodyPr>
          <a:lstStyle/>
          <a:p>
            <a:pPr marL="0" indent="0" algn="just">
              <a:buNone/>
            </a:pPr>
            <a:r>
              <a:rPr lang="en-US" sz="2000" b="1" u="sng" dirty="0">
                <a:latin typeface="Times New Roman" panose="02020603050405020304" pitchFamily="18" charset="0"/>
                <a:cs typeface="Times New Roman" panose="02020603050405020304" pitchFamily="18" charset="0"/>
              </a:rPr>
              <a:t>Problem Statement</a:t>
            </a:r>
          </a:p>
          <a:p>
            <a:pPr marL="0" indent="0" algn="just">
              <a:buNone/>
            </a:pPr>
            <a:r>
              <a:rPr lang="en-US" sz="2000" dirty="0">
                <a:latin typeface="Times New Roman" panose="02020603050405020304" pitchFamily="18" charset="0"/>
                <a:cs typeface="Times New Roman" panose="02020603050405020304" pitchFamily="18" charset="0"/>
              </a:rPr>
              <a:t>Develop an AI-based centralized grievance management system that automates complaint verification, classification, routing, and tracking to improve municipal efficiency and transparency.</a:t>
            </a:r>
          </a:p>
          <a:p>
            <a:pPr marL="0" indent="0" algn="just">
              <a:buNone/>
            </a:pPr>
            <a:endParaRPr lang="en-US" sz="1100" dirty="0">
              <a:latin typeface="Times New Roman" panose="02020603050405020304" pitchFamily="18" charset="0"/>
              <a:cs typeface="Times New Roman" panose="02020603050405020304" pitchFamily="18" charset="0"/>
            </a:endParaRPr>
          </a:p>
          <a:p>
            <a:pPr marL="0" indent="0" algn="just">
              <a:buNone/>
            </a:pPr>
            <a:r>
              <a:rPr lang="en-US" sz="2000" b="1" u="sng" dirty="0">
                <a:latin typeface="Times New Roman" panose="02020603050405020304" pitchFamily="18" charset="0"/>
                <a:cs typeface="Times New Roman" panose="02020603050405020304" pitchFamily="18" charset="0"/>
              </a:rPr>
              <a:t>Objectives</a:t>
            </a:r>
          </a:p>
          <a:p>
            <a:pPr algn="just"/>
            <a:r>
              <a:rPr lang="en-US" sz="2000" dirty="0">
                <a:latin typeface="Times New Roman" panose="02020603050405020304" pitchFamily="18" charset="0"/>
                <a:cs typeface="Times New Roman" panose="02020603050405020304" pitchFamily="18" charset="0"/>
              </a:rPr>
              <a:t>Automate sector &amp; urgency detection using NLP</a:t>
            </a:r>
          </a:p>
          <a:p>
            <a:pPr algn="just"/>
            <a:r>
              <a:rPr lang="en-US" sz="2000" dirty="0">
                <a:latin typeface="Times New Roman" panose="02020603050405020304" pitchFamily="18" charset="0"/>
                <a:cs typeface="Times New Roman" panose="02020603050405020304" pitchFamily="18" charset="0"/>
              </a:rPr>
              <a:t>Validate complaint images using CNN</a:t>
            </a:r>
          </a:p>
          <a:p>
            <a:pPr algn="just"/>
            <a:r>
              <a:rPr lang="en-US" sz="2000" dirty="0">
                <a:latin typeface="Times New Roman" panose="02020603050405020304" pitchFamily="18" charset="0"/>
                <a:cs typeface="Times New Roman" panose="02020603050405020304" pitchFamily="18" charset="0"/>
              </a:rPr>
              <a:t>Auto-route complaints to correct department</a:t>
            </a:r>
          </a:p>
          <a:p>
            <a:pPr algn="just"/>
            <a:r>
              <a:rPr lang="en-US" sz="2000" dirty="0">
                <a:latin typeface="Times New Roman" panose="02020603050405020304" pitchFamily="18" charset="0"/>
                <a:cs typeface="Times New Roman" panose="02020603050405020304" pitchFamily="18" charset="0"/>
              </a:rPr>
              <a:t>Assign employees based on availability</a:t>
            </a:r>
          </a:p>
          <a:p>
            <a:pPr algn="just"/>
            <a:r>
              <a:rPr lang="en-US" sz="2000" dirty="0">
                <a:latin typeface="Times New Roman" panose="02020603050405020304" pitchFamily="18" charset="0"/>
                <a:cs typeface="Times New Roman" panose="02020603050405020304" pitchFamily="18" charset="0"/>
              </a:rPr>
              <a:t>Provide real-time tracking dashboard</a:t>
            </a:r>
          </a:p>
          <a:p>
            <a:pPr algn="just"/>
            <a:endParaRPr lang="en-US" sz="2000" dirty="0"/>
          </a:p>
        </p:txBody>
      </p:sp>
      <p:sp>
        <p:nvSpPr>
          <p:cNvPr id="5" name="Slide Number Placeholder 4">
            <a:extLst>
              <a:ext uri="{FF2B5EF4-FFF2-40B4-BE49-F238E27FC236}">
                <a16:creationId xmlns:a16="http://schemas.microsoft.com/office/drawing/2014/main" id="{433E2E3D-55FF-3F0A-98C6-69EE9C21319D}"/>
              </a:ext>
            </a:extLst>
          </p:cNvPr>
          <p:cNvSpPr>
            <a:spLocks noGrp="1"/>
          </p:cNvSpPr>
          <p:nvPr>
            <p:ph type="sldNum" sz="quarter" idx="12"/>
          </p:nvPr>
        </p:nvSpPr>
        <p:spPr/>
        <p:txBody>
          <a:bodyPr/>
          <a:lstStyle/>
          <a:p>
            <a:fld id="{54A0433F-D463-4C6D-93BB-5B095B314A64}" type="slidenum">
              <a:rPr lang="en-IN" smtClean="0"/>
              <a:t>6</a:t>
            </a:fld>
            <a:endParaRPr lang="en-IN"/>
          </a:p>
        </p:txBody>
      </p:sp>
    </p:spTree>
    <p:extLst>
      <p:ext uri="{BB962C8B-B14F-4D97-AF65-F5344CB8AC3E}">
        <p14:creationId xmlns:p14="http://schemas.microsoft.com/office/powerpoint/2010/main" val="563393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85C6CD-7BEF-7116-4383-0AA166828B12}"/>
              </a:ext>
            </a:extLst>
          </p:cNvPr>
          <p:cNvSpPr>
            <a:spLocks noGrp="1"/>
          </p:cNvSpPr>
          <p:nvPr>
            <p:ph idx="1"/>
          </p:nvPr>
        </p:nvSpPr>
        <p:spPr>
          <a:xfrm>
            <a:off x="616910" y="1253331"/>
            <a:ext cx="9687296" cy="5301988"/>
          </a:xfrm>
        </p:spPr>
        <p:txBody>
          <a:bodyPr>
            <a:noAutofit/>
          </a:bodyPr>
          <a:lstStyle/>
          <a:p>
            <a:pPr marL="342900" indent="-342900" algn="just"/>
            <a:r>
              <a:rPr lang="en-US" sz="2000" b="1" u="sng" dirty="0">
                <a:latin typeface="Times New Roman" panose="02020603050405020304" pitchFamily="18" charset="0"/>
                <a:ea typeface="Tahoma" panose="020B0604030504040204" pitchFamily="34" charset="0"/>
                <a:cs typeface="Times New Roman" panose="02020603050405020304" pitchFamily="18" charset="0"/>
              </a:rPr>
              <a:t>Proposed Solution:  </a:t>
            </a:r>
            <a:r>
              <a:rPr lang="en-US" sz="2000" b="1" u="sng" dirty="0" err="1">
                <a:latin typeface="Times New Roman" panose="02020603050405020304" pitchFamily="18" charset="0"/>
                <a:ea typeface="Tahoma" panose="020B0604030504040204" pitchFamily="34" charset="0"/>
                <a:cs typeface="Times New Roman" panose="02020603050405020304" pitchFamily="18" charset="0"/>
              </a:rPr>
              <a:t>CivicMind</a:t>
            </a:r>
            <a:r>
              <a:rPr lang="en-US" sz="2000" b="1" u="sng" dirty="0">
                <a:latin typeface="Times New Roman" panose="02020603050405020304" pitchFamily="18" charset="0"/>
                <a:ea typeface="Tahoma" panose="020B0604030504040204" pitchFamily="34" charset="0"/>
                <a:cs typeface="Times New Roman" panose="02020603050405020304" pitchFamily="18" charset="0"/>
              </a:rPr>
              <a:t> AI</a:t>
            </a:r>
          </a:p>
          <a:p>
            <a:pPr lvl="1" algn="just">
              <a:buFont typeface="Courier New" panose="02070309020205020404" pitchFamily="49" charset="0"/>
              <a:buChar char="o"/>
            </a:pPr>
            <a:r>
              <a:rPr lang="en-US" sz="2000" dirty="0">
                <a:latin typeface="Times New Roman" panose="02020603050405020304" pitchFamily="18" charset="0"/>
                <a:ea typeface="Tahoma" panose="020B0604030504040204" pitchFamily="34" charset="0"/>
                <a:cs typeface="Times New Roman" panose="02020603050405020304" pitchFamily="18" charset="0"/>
              </a:rPr>
              <a:t>AI-powered civic issue </a:t>
            </a:r>
            <a:r>
              <a:rPr lang="en-US" sz="2000" b="1" dirty="0">
                <a:latin typeface="Times New Roman" panose="02020603050405020304" pitchFamily="18" charset="0"/>
                <a:ea typeface="Tahoma" panose="020B0604030504040204" pitchFamily="34" charset="0"/>
                <a:cs typeface="Times New Roman" panose="02020603050405020304" pitchFamily="18" charset="0"/>
              </a:rPr>
              <a:t>complaint management</a:t>
            </a:r>
            <a:r>
              <a:rPr lang="en-US" sz="2000" dirty="0">
                <a:latin typeface="Times New Roman" panose="02020603050405020304" pitchFamily="18" charset="0"/>
                <a:ea typeface="Tahoma" panose="020B0604030504040204" pitchFamily="34" charset="0"/>
                <a:cs typeface="Times New Roman" panose="02020603050405020304" pitchFamily="18" charset="0"/>
              </a:rPr>
              <a:t> web platform</a:t>
            </a:r>
          </a:p>
          <a:p>
            <a:pPr lvl="1" algn="just">
              <a:buFont typeface="Courier New" panose="02070309020205020404" pitchFamily="49" charset="0"/>
              <a:buChar char="o"/>
            </a:pPr>
            <a:r>
              <a:rPr lang="en-IN" sz="2000" dirty="0">
                <a:latin typeface="Times New Roman" panose="02020603050405020304" pitchFamily="18" charset="0"/>
                <a:ea typeface="Tahoma" panose="020B0604030504040204" pitchFamily="34" charset="0"/>
                <a:cs typeface="Times New Roman" panose="02020603050405020304" pitchFamily="18" charset="0"/>
              </a:rPr>
              <a:t>Centralized digital platform for multiple Municipal Corporations</a:t>
            </a:r>
          </a:p>
          <a:p>
            <a:pPr lvl="1" algn="just">
              <a:buFont typeface="Courier New" panose="02070309020205020404" pitchFamily="49" charset="0"/>
              <a:buChar char="o"/>
            </a:pPr>
            <a:r>
              <a:rPr lang="en-US" sz="2000" dirty="0">
                <a:latin typeface="Times New Roman" panose="02020603050405020304" pitchFamily="18" charset="0"/>
                <a:ea typeface="Tahoma" panose="020B0604030504040204" pitchFamily="34" charset="0"/>
                <a:cs typeface="Times New Roman" panose="02020603050405020304" pitchFamily="18" charset="0"/>
              </a:rPr>
              <a:t>Web-based system with </a:t>
            </a:r>
            <a:r>
              <a:rPr lang="en-US" sz="2000" b="1" dirty="0">
                <a:latin typeface="Times New Roman" panose="02020603050405020304" pitchFamily="18" charset="0"/>
                <a:ea typeface="Tahoma" panose="020B0604030504040204" pitchFamily="34" charset="0"/>
                <a:cs typeface="Times New Roman" panose="02020603050405020304" pitchFamily="18" charset="0"/>
              </a:rPr>
              <a:t>two interfaces</a:t>
            </a:r>
            <a:r>
              <a:rPr lang="en-US" sz="2000" dirty="0">
                <a:latin typeface="Times New Roman" panose="02020603050405020304" pitchFamily="18" charset="0"/>
                <a:ea typeface="Tahoma" panose="020B0604030504040204" pitchFamily="34" charset="0"/>
                <a:cs typeface="Times New Roman" panose="02020603050405020304" pitchFamily="18" charset="0"/>
              </a:rPr>
              <a:t> – Citizen Portal &amp; Municipal Portal</a:t>
            </a:r>
          </a:p>
          <a:p>
            <a:pPr marL="457200" lvl="1" indent="0" algn="just">
              <a:buNone/>
            </a:pP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r>
              <a:rPr lang="en-US" sz="2000" b="1" u="sng" dirty="0">
                <a:latin typeface="Times New Roman" panose="02020603050405020304" pitchFamily="18" charset="0"/>
                <a:ea typeface="Tahoma" panose="020B0604030504040204" pitchFamily="34" charset="0"/>
                <a:cs typeface="Times New Roman" panose="02020603050405020304" pitchFamily="18" charset="0"/>
              </a:rPr>
              <a:t>How It Addresses The Problem</a:t>
            </a:r>
          </a:p>
          <a:p>
            <a:pPr lvl="1" algn="just">
              <a:buFont typeface="Courier New" panose="02070309020205020404" pitchFamily="49" charset="0"/>
              <a:buChar char="o"/>
            </a:pPr>
            <a:r>
              <a:rPr lang="en-US" sz="2000" dirty="0">
                <a:latin typeface="Times New Roman" panose="02020603050405020304" pitchFamily="18" charset="0"/>
                <a:ea typeface="Tahoma" panose="020B0604030504040204" pitchFamily="34" charset="0"/>
                <a:cs typeface="Times New Roman" panose="02020603050405020304" pitchFamily="18" charset="0"/>
              </a:rPr>
              <a:t>Citizens file complaints using </a:t>
            </a:r>
            <a:r>
              <a:rPr lang="en-US" sz="2000" b="1" dirty="0">
                <a:latin typeface="Times New Roman" panose="02020603050405020304" pitchFamily="18" charset="0"/>
                <a:ea typeface="Tahoma" panose="020B0604030504040204" pitchFamily="34" charset="0"/>
                <a:cs typeface="Times New Roman" panose="02020603050405020304" pitchFamily="18" charset="0"/>
              </a:rPr>
              <a:t>live camera capture + real-time location</a:t>
            </a:r>
          </a:p>
          <a:p>
            <a:pPr lvl="1" algn="just">
              <a:buFont typeface="Courier New" panose="02070309020205020404" pitchFamily="49" charset="0"/>
              <a:buChar char="o"/>
            </a:pPr>
            <a:r>
              <a:rPr lang="en-US" sz="2000" dirty="0">
                <a:latin typeface="Times New Roman" panose="02020603050405020304" pitchFamily="18" charset="0"/>
                <a:ea typeface="Tahoma" panose="020B0604030504040204" pitchFamily="34" charset="0"/>
                <a:cs typeface="Times New Roman" panose="02020603050405020304" pitchFamily="18" charset="0"/>
              </a:rPr>
              <a:t>Verifies complaint authenticity and detects urgency &amp; sector</a:t>
            </a:r>
          </a:p>
          <a:p>
            <a:pPr lvl="1" algn="just">
              <a:buFont typeface="Courier New" panose="02070309020205020404" pitchFamily="49" charset="0"/>
              <a:buChar char="o"/>
            </a:pPr>
            <a:r>
              <a:rPr lang="en-US" sz="2000" dirty="0">
                <a:latin typeface="Times New Roman" panose="02020603050405020304" pitchFamily="18" charset="0"/>
                <a:ea typeface="Tahoma" panose="020B0604030504040204" pitchFamily="34" charset="0"/>
                <a:cs typeface="Times New Roman" panose="02020603050405020304" pitchFamily="18" charset="0"/>
              </a:rPr>
              <a:t>Complaints auto-routed to the </a:t>
            </a:r>
            <a:r>
              <a:rPr lang="en-US" sz="2000" b="1" dirty="0">
                <a:latin typeface="Times New Roman" panose="02020603050405020304" pitchFamily="18" charset="0"/>
                <a:ea typeface="Tahoma" panose="020B0604030504040204" pitchFamily="34" charset="0"/>
                <a:cs typeface="Times New Roman" panose="02020603050405020304" pitchFamily="18" charset="0"/>
              </a:rPr>
              <a:t>appropriate municipal corporation and department</a:t>
            </a:r>
          </a:p>
          <a:p>
            <a:pPr lvl="1" algn="just">
              <a:buFont typeface="Courier New" panose="02070309020205020404" pitchFamily="49" charset="0"/>
              <a:buChar char="o"/>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r>
              <a:rPr lang="en-IN" sz="2000" b="1" u="sng" dirty="0">
                <a:latin typeface="Times New Roman" panose="02020603050405020304" pitchFamily="18" charset="0"/>
                <a:ea typeface="Tahoma" panose="020B0604030504040204" pitchFamily="34" charset="0"/>
                <a:cs typeface="Times New Roman" panose="02020603050405020304" pitchFamily="18" charset="0"/>
              </a:rPr>
              <a:t>Innovation &amp; Uniqueness</a:t>
            </a:r>
          </a:p>
          <a:p>
            <a:pPr lvl="1" algn="just">
              <a:buFont typeface="Courier New" panose="02070309020205020404" pitchFamily="49" charset="0"/>
              <a:buChar char="o"/>
            </a:pPr>
            <a:r>
              <a:rPr lang="en-US" sz="2000" dirty="0">
                <a:latin typeface="Times New Roman" panose="02020603050405020304" pitchFamily="18" charset="0"/>
                <a:ea typeface="Tahoma" panose="020B0604030504040204" pitchFamily="34" charset="0"/>
                <a:cs typeface="Times New Roman" panose="02020603050405020304" pitchFamily="18" charset="0"/>
              </a:rPr>
              <a:t>Automatic employee assignment based on </a:t>
            </a:r>
            <a:r>
              <a:rPr lang="en-US" sz="2000" b="1" dirty="0">
                <a:latin typeface="Times New Roman" panose="02020603050405020304" pitchFamily="18" charset="0"/>
                <a:ea typeface="Tahoma" panose="020B0604030504040204" pitchFamily="34" charset="0"/>
                <a:cs typeface="Times New Roman" panose="02020603050405020304" pitchFamily="18" charset="0"/>
              </a:rPr>
              <a:t>availability &amp; department mapping</a:t>
            </a:r>
          </a:p>
          <a:p>
            <a:pPr lvl="1" algn="just">
              <a:buFont typeface="Courier New" panose="02070309020205020404" pitchFamily="49" charset="0"/>
              <a:buChar char="o"/>
            </a:pPr>
            <a:r>
              <a:rPr lang="en-US" sz="2000" dirty="0">
                <a:latin typeface="Times New Roman" panose="02020603050405020304" pitchFamily="18" charset="0"/>
                <a:ea typeface="Tahoma" panose="020B0604030504040204" pitchFamily="34" charset="0"/>
                <a:cs typeface="Times New Roman" panose="02020603050405020304" pitchFamily="18" charset="0"/>
              </a:rPr>
              <a:t>Integrated </a:t>
            </a:r>
            <a:r>
              <a:rPr lang="en-US" sz="2000" b="1" dirty="0">
                <a:latin typeface="Times New Roman" panose="02020603050405020304" pitchFamily="18" charset="0"/>
                <a:ea typeface="Tahoma" panose="020B0604030504040204" pitchFamily="34" charset="0"/>
                <a:cs typeface="Times New Roman" panose="02020603050405020304" pitchFamily="18" charset="0"/>
              </a:rPr>
              <a:t>Notice Section</a:t>
            </a:r>
            <a:r>
              <a:rPr lang="en-US" sz="2000" dirty="0">
                <a:latin typeface="Times New Roman" panose="02020603050405020304" pitchFamily="18" charset="0"/>
                <a:ea typeface="Tahoma" panose="020B0604030504040204" pitchFamily="34" charset="0"/>
                <a:cs typeface="Times New Roman" panose="02020603050405020304" pitchFamily="18" charset="0"/>
              </a:rPr>
              <a:t> for official municipal announcements</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itle 7">
            <a:extLst>
              <a:ext uri="{FF2B5EF4-FFF2-40B4-BE49-F238E27FC236}">
                <a16:creationId xmlns:a16="http://schemas.microsoft.com/office/drawing/2014/main" id="{5AAFF5C8-001B-8307-2B59-96A81C2327E4}"/>
              </a:ext>
            </a:extLst>
          </p:cNvPr>
          <p:cNvSpPr txBox="1">
            <a:spLocks/>
          </p:cNvSpPr>
          <p:nvPr/>
        </p:nvSpPr>
        <p:spPr>
          <a:xfrm>
            <a:off x="538252" y="302681"/>
            <a:ext cx="10894143" cy="786708"/>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t>	</a:t>
            </a:r>
            <a:br>
              <a:rPr lang="en-IN" sz="2400" dirty="0"/>
            </a:br>
            <a:r>
              <a:rPr lang="en-US" sz="3600" b="1" dirty="0">
                <a:latin typeface="Times New Roman" panose="02020603050405020304" pitchFamily="18" charset="0"/>
                <a:cs typeface="Times New Roman" panose="02020603050405020304" pitchFamily="18" charset="0"/>
              </a:rPr>
              <a:t>Proposed Solution</a:t>
            </a:r>
            <a:endParaRPr lang="en-IN" sz="36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5E21EFA-96F3-4C5F-A525-8FC743478235}"/>
              </a:ext>
            </a:extLst>
          </p:cNvPr>
          <p:cNvSpPr>
            <a:spLocks noGrp="1"/>
          </p:cNvSpPr>
          <p:nvPr>
            <p:ph type="sldNum" sz="quarter" idx="12"/>
          </p:nvPr>
        </p:nvSpPr>
        <p:spPr/>
        <p:txBody>
          <a:bodyPr/>
          <a:lstStyle/>
          <a:p>
            <a:fld id="{54A0433F-D463-4C6D-93BB-5B095B314A64}" type="slidenum">
              <a:rPr lang="en-IN" smtClean="0"/>
              <a:t>7</a:t>
            </a:fld>
            <a:endParaRPr lang="en-IN"/>
          </a:p>
        </p:txBody>
      </p:sp>
    </p:spTree>
    <p:extLst>
      <p:ext uri="{BB962C8B-B14F-4D97-AF65-F5344CB8AC3E}">
        <p14:creationId xmlns:p14="http://schemas.microsoft.com/office/powerpoint/2010/main" val="2940902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52E4A-5E7A-F230-6413-C331B246437E}"/>
              </a:ext>
            </a:extLst>
          </p:cNvPr>
          <p:cNvSpPr>
            <a:spLocks noGrp="1"/>
          </p:cNvSpPr>
          <p:nvPr>
            <p:ph type="title"/>
          </p:nvPr>
        </p:nvSpPr>
        <p:spPr>
          <a:xfrm>
            <a:off x="769374" y="263832"/>
            <a:ext cx="10515600" cy="834409"/>
          </a:xfrm>
        </p:spPr>
        <p:txBody>
          <a:bodyPr>
            <a:normAutofit/>
          </a:bodyPr>
          <a:lstStyle/>
          <a:p>
            <a:pPr algn="ctr"/>
            <a:r>
              <a:rPr lang="en-IN" sz="3200" b="1" dirty="0">
                <a:latin typeface="Times New Roman" panose="02020603050405020304" pitchFamily="18" charset="0"/>
                <a:cs typeface="Times New Roman" panose="02020603050405020304" pitchFamily="18" charset="0"/>
              </a:rPr>
              <a:t>Technical Approach</a:t>
            </a:r>
          </a:p>
        </p:txBody>
      </p:sp>
      <p:sp>
        <p:nvSpPr>
          <p:cNvPr id="3" name="Content Placeholder 2">
            <a:extLst>
              <a:ext uri="{FF2B5EF4-FFF2-40B4-BE49-F238E27FC236}">
                <a16:creationId xmlns:a16="http://schemas.microsoft.com/office/drawing/2014/main" id="{FCBC43AE-8DB6-6317-1BCD-863C9C9F3EBB}"/>
              </a:ext>
            </a:extLst>
          </p:cNvPr>
          <p:cNvSpPr>
            <a:spLocks noGrp="1"/>
          </p:cNvSpPr>
          <p:nvPr>
            <p:ph idx="1"/>
          </p:nvPr>
        </p:nvSpPr>
        <p:spPr>
          <a:xfrm>
            <a:off x="769374" y="1253330"/>
            <a:ext cx="6280355" cy="5103019"/>
          </a:xfrm>
        </p:spPr>
        <p:txBody>
          <a:bodyPr>
            <a:noAutofit/>
          </a:bodyPr>
          <a:lstStyle/>
          <a:p>
            <a:pPr marL="342900" indent="-342900" algn="just"/>
            <a:r>
              <a:rPr lang="en-US" sz="2000" b="1" u="sng" dirty="0">
                <a:latin typeface="Times New Roman" panose="02020603050405020304" pitchFamily="18" charset="0"/>
                <a:cs typeface="Times New Roman" panose="02020603050405020304" pitchFamily="18" charset="0"/>
              </a:rPr>
              <a:t>Technologies Used:</a:t>
            </a:r>
          </a:p>
          <a:p>
            <a:pPr lvl="1" algn="just">
              <a:buFont typeface="Courier New" panose="02070309020205020404" pitchFamily="49" charset="0"/>
              <a:buChar char="o"/>
            </a:pPr>
            <a:r>
              <a:rPr lang="en-IN" sz="2000" b="1" dirty="0">
                <a:latin typeface="Times New Roman" panose="02020603050405020304" pitchFamily="18" charset="0"/>
                <a:cs typeface="Times New Roman" panose="02020603050405020304" pitchFamily="18" charset="0"/>
              </a:rPr>
              <a:t>Frontend</a:t>
            </a:r>
            <a:r>
              <a:rPr lang="en-IN" sz="2000" dirty="0">
                <a:latin typeface="Times New Roman" panose="02020603050405020304" pitchFamily="18" charset="0"/>
                <a:cs typeface="Times New Roman" panose="02020603050405020304" pitchFamily="18" charset="0"/>
              </a:rPr>
              <a:t>: React.js, Tailwind CSS </a:t>
            </a:r>
          </a:p>
          <a:p>
            <a:pPr lvl="1" algn="just">
              <a:buFont typeface="Courier New" panose="02070309020205020404" pitchFamily="49" charset="0"/>
              <a:buChar char="o"/>
            </a:pPr>
            <a:r>
              <a:rPr lang="en-IN" sz="2000" b="1" dirty="0">
                <a:latin typeface="Times New Roman" panose="02020603050405020304" pitchFamily="18" charset="0"/>
                <a:cs typeface="Times New Roman" panose="02020603050405020304" pitchFamily="18" charset="0"/>
              </a:rPr>
              <a:t>Backend</a:t>
            </a:r>
            <a:r>
              <a:rPr lang="en-IN" sz="2000" dirty="0">
                <a:latin typeface="Times New Roman" panose="02020603050405020304" pitchFamily="18" charset="0"/>
                <a:cs typeface="Times New Roman" panose="02020603050405020304" pitchFamily="18" charset="0"/>
              </a:rPr>
              <a:t>: Node.js / Fast API</a:t>
            </a:r>
          </a:p>
          <a:p>
            <a:pPr lvl="1" algn="just">
              <a:buFont typeface="Courier New" panose="02070309020205020404" pitchFamily="49" charset="0"/>
              <a:buChar char="o"/>
            </a:pPr>
            <a:r>
              <a:rPr lang="en-IN" sz="2000" b="1" dirty="0">
                <a:latin typeface="Times New Roman" panose="02020603050405020304" pitchFamily="18" charset="0"/>
                <a:cs typeface="Times New Roman" panose="02020603050405020304" pitchFamily="18" charset="0"/>
              </a:rPr>
              <a:t>Database</a:t>
            </a:r>
            <a:r>
              <a:rPr lang="en-IN" sz="2000" dirty="0">
                <a:latin typeface="Times New Roman" panose="02020603050405020304" pitchFamily="18" charset="0"/>
                <a:cs typeface="Times New Roman" panose="02020603050405020304" pitchFamily="18" charset="0"/>
              </a:rPr>
              <a:t>: MongoDB</a:t>
            </a:r>
          </a:p>
          <a:p>
            <a:pPr lvl="1" algn="just">
              <a:buFont typeface="Courier New" panose="02070309020205020404" pitchFamily="49" charset="0"/>
              <a:buChar char="o"/>
            </a:pPr>
            <a:r>
              <a:rPr lang="en-IN" sz="2000" b="1" dirty="0">
                <a:latin typeface="Times New Roman" panose="02020603050405020304" pitchFamily="18" charset="0"/>
                <a:cs typeface="Times New Roman" panose="02020603050405020304" pitchFamily="18" charset="0"/>
              </a:rPr>
              <a:t>Image Processing</a:t>
            </a:r>
            <a:r>
              <a:rPr lang="en-IN" sz="2000" dirty="0">
                <a:latin typeface="Times New Roman" panose="02020603050405020304" pitchFamily="18" charset="0"/>
                <a:cs typeface="Times New Roman" panose="02020603050405020304" pitchFamily="18" charset="0"/>
              </a:rPr>
              <a:t>: Pretrained CNN model</a:t>
            </a:r>
          </a:p>
          <a:p>
            <a:pPr lvl="1" algn="just">
              <a:buFont typeface="Courier New" panose="02070309020205020404" pitchFamily="49" charset="0"/>
              <a:buChar char="o"/>
            </a:pPr>
            <a:r>
              <a:rPr lang="en-IN" sz="2000" b="1" dirty="0">
                <a:latin typeface="Times New Roman" panose="02020603050405020304" pitchFamily="18" charset="0"/>
                <a:cs typeface="Times New Roman" panose="02020603050405020304" pitchFamily="18" charset="0"/>
              </a:rPr>
              <a:t>NLP</a:t>
            </a:r>
            <a:r>
              <a:rPr lang="en-IN" sz="2000" dirty="0">
                <a:latin typeface="Times New Roman" panose="02020603050405020304" pitchFamily="18" charset="0"/>
                <a:cs typeface="Times New Roman" panose="02020603050405020304" pitchFamily="18" charset="0"/>
              </a:rPr>
              <a:t>: Custom-trained model</a:t>
            </a:r>
          </a:p>
          <a:p>
            <a:pPr lvl="1" algn="just">
              <a:buFont typeface="Courier New" panose="02070309020205020404" pitchFamily="49" charset="0"/>
              <a:buChar char="o"/>
            </a:pPr>
            <a:r>
              <a:rPr lang="en-IN" sz="2000" b="1" dirty="0">
                <a:latin typeface="Times New Roman" panose="02020603050405020304" pitchFamily="18" charset="0"/>
                <a:cs typeface="Times New Roman" panose="02020603050405020304" pitchFamily="18" charset="0"/>
              </a:rPr>
              <a:t>Maps &amp; Location</a:t>
            </a:r>
            <a:r>
              <a:rPr lang="en-IN" sz="2000" dirty="0">
                <a:latin typeface="Times New Roman" panose="02020603050405020304" pitchFamily="18" charset="0"/>
                <a:cs typeface="Times New Roman" panose="02020603050405020304" pitchFamily="18" charset="0"/>
              </a:rPr>
              <a:t>: Google Maps API</a:t>
            </a:r>
          </a:p>
          <a:p>
            <a:pPr algn="just"/>
            <a:endParaRPr lang="en-IN" sz="2000" b="1" u="sng" dirty="0">
              <a:latin typeface="Times New Roman" panose="02020603050405020304" pitchFamily="18" charset="0"/>
              <a:cs typeface="Times New Roman" panose="02020603050405020304" pitchFamily="18" charset="0"/>
            </a:endParaRPr>
          </a:p>
          <a:p>
            <a:pPr algn="just"/>
            <a:r>
              <a:rPr lang="en-IN" sz="2000" b="1" u="sng" dirty="0">
                <a:latin typeface="Times New Roman" panose="02020603050405020304" pitchFamily="18" charset="0"/>
                <a:cs typeface="Times New Roman" panose="02020603050405020304" pitchFamily="18" charset="0"/>
              </a:rPr>
              <a:t>Methodology / Working Flow:</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User feeds image + location + description</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Image authenticity &amp; relevance verification</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NLP extracts sector (road, water, electric) &amp; urgency</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Complaint auto-assigned to available employee</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Status updates synced across all dashboards</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A80191A-822F-DF0E-DF93-405D5D64D903}"/>
              </a:ext>
            </a:extLst>
          </p:cNvPr>
          <p:cNvSpPr>
            <a:spLocks noGrp="1"/>
          </p:cNvSpPr>
          <p:nvPr>
            <p:ph type="sldNum" sz="quarter" idx="12"/>
          </p:nvPr>
        </p:nvSpPr>
        <p:spPr/>
        <p:txBody>
          <a:bodyPr/>
          <a:lstStyle/>
          <a:p>
            <a:fld id="{54A0433F-D463-4C6D-93BB-5B095B314A64}" type="slidenum">
              <a:rPr lang="en-IN" smtClean="0"/>
              <a:t>8</a:t>
            </a:fld>
            <a:endParaRPr lang="en-IN"/>
          </a:p>
        </p:txBody>
      </p:sp>
      <p:pic>
        <p:nvPicPr>
          <p:cNvPr id="18" name="Picture 17">
            <a:extLst>
              <a:ext uri="{FF2B5EF4-FFF2-40B4-BE49-F238E27FC236}">
                <a16:creationId xmlns:a16="http://schemas.microsoft.com/office/drawing/2014/main" id="{4365406F-A49E-63D6-0EC6-0BC9709092CC}"/>
              </a:ext>
            </a:extLst>
          </p:cNvPr>
          <p:cNvPicPr>
            <a:picLocks noChangeAspect="1"/>
          </p:cNvPicPr>
          <p:nvPr/>
        </p:nvPicPr>
        <p:blipFill>
          <a:blip r:embed="rId2">
            <a:extLst>
              <a:ext uri="{28A0092B-C50C-407E-A947-70E740481C1C}">
                <a14:useLocalDpi xmlns:a14="http://schemas.microsoft.com/office/drawing/2010/main" val="0"/>
              </a:ext>
            </a:extLst>
          </a:blip>
          <a:srcRect l="20957" r="15549"/>
          <a:stretch>
            <a:fillRect/>
          </a:stretch>
        </p:blipFill>
        <p:spPr>
          <a:xfrm>
            <a:off x="8143030" y="284153"/>
            <a:ext cx="2951690" cy="6594168"/>
          </a:xfrm>
          <a:prstGeom prst="rect">
            <a:avLst/>
          </a:prstGeom>
        </p:spPr>
      </p:pic>
    </p:spTree>
    <p:extLst>
      <p:ext uri="{BB962C8B-B14F-4D97-AF65-F5344CB8AC3E}">
        <p14:creationId xmlns:p14="http://schemas.microsoft.com/office/powerpoint/2010/main" val="3965835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587D4-30D0-B3AD-BC15-4EFAA732F8A1}"/>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Model metrics (NLP)</a:t>
            </a:r>
            <a:endParaRPr lang="en-IN" sz="4800"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084CFDD9-9EF5-4D0B-3722-9B03917E97B3}"/>
              </a:ext>
            </a:extLst>
          </p:cNvPr>
          <p:cNvPicPr>
            <a:picLocks noGrp="1" noChangeAspect="1"/>
          </p:cNvPicPr>
          <p:nvPr>
            <p:ph idx="1"/>
          </p:nvPr>
        </p:nvPicPr>
        <p:blipFill>
          <a:blip r:embed="rId2"/>
          <a:stretch>
            <a:fillRect/>
          </a:stretch>
        </p:blipFill>
        <p:spPr>
          <a:xfrm>
            <a:off x="838200" y="1501856"/>
            <a:ext cx="4365757" cy="2216703"/>
          </a:xfrm>
          <a:prstGeom prst="rect">
            <a:avLst/>
          </a:prstGeom>
        </p:spPr>
      </p:pic>
      <p:sp>
        <p:nvSpPr>
          <p:cNvPr id="5" name="Slide Number Placeholder 4">
            <a:extLst>
              <a:ext uri="{FF2B5EF4-FFF2-40B4-BE49-F238E27FC236}">
                <a16:creationId xmlns:a16="http://schemas.microsoft.com/office/drawing/2014/main" id="{B9D12841-7261-6EE9-3F9D-CFA8E53CF6B9}"/>
              </a:ext>
            </a:extLst>
          </p:cNvPr>
          <p:cNvSpPr>
            <a:spLocks noGrp="1"/>
          </p:cNvSpPr>
          <p:nvPr>
            <p:ph type="sldNum" sz="quarter" idx="12"/>
          </p:nvPr>
        </p:nvSpPr>
        <p:spPr/>
        <p:txBody>
          <a:bodyPr/>
          <a:lstStyle/>
          <a:p>
            <a:fld id="{54A0433F-D463-4C6D-93BB-5B095B314A64}" type="slidenum">
              <a:rPr lang="en-IN" smtClean="0"/>
              <a:t>9</a:t>
            </a:fld>
            <a:endParaRPr lang="en-IN"/>
          </a:p>
        </p:txBody>
      </p:sp>
      <p:pic>
        <p:nvPicPr>
          <p:cNvPr id="9" name="Picture 8">
            <a:extLst>
              <a:ext uri="{FF2B5EF4-FFF2-40B4-BE49-F238E27FC236}">
                <a16:creationId xmlns:a16="http://schemas.microsoft.com/office/drawing/2014/main" id="{9D2A6B25-560D-0F69-2649-D08E498C92F7}"/>
              </a:ext>
            </a:extLst>
          </p:cNvPr>
          <p:cNvPicPr>
            <a:picLocks noChangeAspect="1"/>
          </p:cNvPicPr>
          <p:nvPr/>
        </p:nvPicPr>
        <p:blipFill>
          <a:blip r:embed="rId3"/>
          <a:stretch>
            <a:fillRect/>
          </a:stretch>
        </p:blipFill>
        <p:spPr>
          <a:xfrm>
            <a:off x="5935263" y="1501856"/>
            <a:ext cx="4938188" cy="2216704"/>
          </a:xfrm>
          <a:prstGeom prst="rect">
            <a:avLst/>
          </a:prstGeom>
        </p:spPr>
      </p:pic>
      <p:pic>
        <p:nvPicPr>
          <p:cNvPr id="11" name="Picture 10">
            <a:extLst>
              <a:ext uri="{FF2B5EF4-FFF2-40B4-BE49-F238E27FC236}">
                <a16:creationId xmlns:a16="http://schemas.microsoft.com/office/drawing/2014/main" id="{B6F0C16F-5018-75A3-5497-F7C9E2A2ED20}"/>
              </a:ext>
            </a:extLst>
          </p:cNvPr>
          <p:cNvPicPr>
            <a:picLocks noChangeAspect="1"/>
          </p:cNvPicPr>
          <p:nvPr/>
        </p:nvPicPr>
        <p:blipFill>
          <a:blip r:embed="rId4"/>
          <a:stretch>
            <a:fillRect/>
          </a:stretch>
        </p:blipFill>
        <p:spPr>
          <a:xfrm>
            <a:off x="838200" y="3718560"/>
            <a:ext cx="4365757" cy="2637790"/>
          </a:xfrm>
          <a:prstGeom prst="rect">
            <a:avLst/>
          </a:prstGeom>
        </p:spPr>
      </p:pic>
      <p:pic>
        <p:nvPicPr>
          <p:cNvPr id="13" name="Picture 12">
            <a:extLst>
              <a:ext uri="{FF2B5EF4-FFF2-40B4-BE49-F238E27FC236}">
                <a16:creationId xmlns:a16="http://schemas.microsoft.com/office/drawing/2014/main" id="{D2B59FF8-0833-E3CD-B338-F816090A20B9}"/>
              </a:ext>
            </a:extLst>
          </p:cNvPr>
          <p:cNvPicPr>
            <a:picLocks noChangeAspect="1"/>
          </p:cNvPicPr>
          <p:nvPr/>
        </p:nvPicPr>
        <p:blipFill>
          <a:blip r:embed="rId5"/>
          <a:stretch>
            <a:fillRect/>
          </a:stretch>
        </p:blipFill>
        <p:spPr>
          <a:xfrm>
            <a:off x="5935263" y="3718560"/>
            <a:ext cx="4938188" cy="2637790"/>
          </a:xfrm>
          <a:prstGeom prst="rect">
            <a:avLst/>
          </a:prstGeom>
        </p:spPr>
      </p:pic>
    </p:spTree>
    <p:extLst>
      <p:ext uri="{BB962C8B-B14F-4D97-AF65-F5344CB8AC3E}">
        <p14:creationId xmlns:p14="http://schemas.microsoft.com/office/powerpoint/2010/main" val="3015608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8A074350-CC4C-C54D-821B-3AD842E8EF0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8505"/>
          <a:stretch>
            <a:fillRect/>
          </a:stretch>
        </p:blipFill>
        <p:spPr>
          <a:xfrm>
            <a:off x="838200" y="2296160"/>
            <a:ext cx="4800600" cy="3870959"/>
          </a:xfrm>
        </p:spPr>
      </p:pic>
      <p:sp>
        <p:nvSpPr>
          <p:cNvPr id="5" name="Slide Number Placeholder 4">
            <a:extLst>
              <a:ext uri="{FF2B5EF4-FFF2-40B4-BE49-F238E27FC236}">
                <a16:creationId xmlns:a16="http://schemas.microsoft.com/office/drawing/2014/main" id="{D2A0415C-ECC1-5118-C147-CE1949A3C1C7}"/>
              </a:ext>
            </a:extLst>
          </p:cNvPr>
          <p:cNvSpPr>
            <a:spLocks noGrp="1"/>
          </p:cNvSpPr>
          <p:nvPr>
            <p:ph type="sldNum" sz="quarter" idx="12"/>
          </p:nvPr>
        </p:nvSpPr>
        <p:spPr/>
        <p:txBody>
          <a:bodyPr/>
          <a:lstStyle/>
          <a:p>
            <a:fld id="{54A0433F-D463-4C6D-93BB-5B095B314A64}" type="slidenum">
              <a:rPr lang="en-IN" smtClean="0"/>
              <a:t>10</a:t>
            </a:fld>
            <a:endParaRPr lang="en-IN"/>
          </a:p>
        </p:txBody>
      </p:sp>
      <p:pic>
        <p:nvPicPr>
          <p:cNvPr id="21" name="Picture 20">
            <a:extLst>
              <a:ext uri="{FF2B5EF4-FFF2-40B4-BE49-F238E27FC236}">
                <a16:creationId xmlns:a16="http://schemas.microsoft.com/office/drawing/2014/main" id="{0805632F-46BB-75C1-F9F5-741899292B0A}"/>
              </a:ext>
            </a:extLst>
          </p:cNvPr>
          <p:cNvPicPr>
            <a:picLocks noChangeAspect="1"/>
          </p:cNvPicPr>
          <p:nvPr/>
        </p:nvPicPr>
        <p:blipFill>
          <a:blip r:embed="rId3">
            <a:extLst>
              <a:ext uri="{28A0092B-C50C-407E-A947-70E740481C1C}">
                <a14:useLocalDpi xmlns:a14="http://schemas.microsoft.com/office/drawing/2010/main" val="0"/>
              </a:ext>
            </a:extLst>
          </a:blip>
          <a:srcRect l="5286"/>
          <a:stretch>
            <a:fillRect/>
          </a:stretch>
        </p:blipFill>
        <p:spPr>
          <a:xfrm>
            <a:off x="6421120" y="2296160"/>
            <a:ext cx="4932680" cy="3870959"/>
          </a:xfrm>
          <a:prstGeom prst="rect">
            <a:avLst/>
          </a:prstGeom>
        </p:spPr>
      </p:pic>
      <p:sp>
        <p:nvSpPr>
          <p:cNvPr id="3" name="Title 1">
            <a:extLst>
              <a:ext uri="{FF2B5EF4-FFF2-40B4-BE49-F238E27FC236}">
                <a16:creationId xmlns:a16="http://schemas.microsoft.com/office/drawing/2014/main" id="{7483B362-C312-DC2E-833F-D1C303B9E2CA}"/>
              </a:ext>
            </a:extLst>
          </p:cNvPr>
          <p:cNvSpPr>
            <a:spLocks noGrp="1"/>
          </p:cNvSpPr>
          <p:nvPr>
            <p:ph type="title"/>
          </p:nvPr>
        </p:nvSpPr>
        <p:spPr>
          <a:xfrm>
            <a:off x="838200" y="365125"/>
            <a:ext cx="10515600" cy="1325563"/>
          </a:xfrm>
        </p:spPr>
        <p:txBody>
          <a:bodyPr>
            <a:normAutofit/>
          </a:bodyPr>
          <a:lstStyle/>
          <a:p>
            <a:pPr algn="ctr"/>
            <a:r>
              <a:rPr lang="en-US" sz="4800" b="1" dirty="0">
                <a:latin typeface="Times New Roman" panose="02020603050405020304" pitchFamily="18" charset="0"/>
                <a:cs typeface="Times New Roman" panose="02020603050405020304" pitchFamily="18" charset="0"/>
              </a:rPr>
              <a:t>Model metrics (CNN)</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0418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E7D35-6BF3-7A93-6119-82D883C0DF63}"/>
              </a:ext>
            </a:extLst>
          </p:cNvPr>
          <p:cNvSpPr>
            <a:spLocks noGrp="1"/>
          </p:cNvSpPr>
          <p:nvPr>
            <p:ph type="title"/>
          </p:nvPr>
        </p:nvSpPr>
        <p:spPr>
          <a:xfrm>
            <a:off x="838200" y="365125"/>
            <a:ext cx="10515600" cy="844243"/>
          </a:xfrm>
        </p:spPr>
        <p:txBody>
          <a:bodyPr>
            <a:normAutofit/>
          </a:bodyPr>
          <a:lstStyle/>
          <a:p>
            <a:pPr algn="ctr"/>
            <a:r>
              <a:rPr lang="en-IN" sz="3200" b="1" dirty="0">
                <a:latin typeface="Times New Roman" panose="02020603050405020304" pitchFamily="18" charset="0"/>
                <a:cs typeface="Times New Roman" panose="02020603050405020304" pitchFamily="18" charset="0"/>
              </a:rPr>
              <a:t>Feasibility and Viability</a:t>
            </a:r>
          </a:p>
        </p:txBody>
      </p:sp>
      <p:sp>
        <p:nvSpPr>
          <p:cNvPr id="3" name="Content Placeholder 2">
            <a:extLst>
              <a:ext uri="{FF2B5EF4-FFF2-40B4-BE49-F238E27FC236}">
                <a16:creationId xmlns:a16="http://schemas.microsoft.com/office/drawing/2014/main" id="{4F1E1BD0-4B42-2E41-BFE4-91898F438C4A}"/>
              </a:ext>
            </a:extLst>
          </p:cNvPr>
          <p:cNvSpPr>
            <a:spLocks noGrp="1"/>
          </p:cNvSpPr>
          <p:nvPr>
            <p:ph idx="1"/>
          </p:nvPr>
        </p:nvSpPr>
        <p:spPr>
          <a:xfrm>
            <a:off x="838200" y="1209367"/>
            <a:ext cx="6801465" cy="4916129"/>
          </a:xfrm>
        </p:spPr>
        <p:txBody>
          <a:bodyPr>
            <a:noAutofit/>
          </a:bodyPr>
          <a:lstStyle/>
          <a:p>
            <a:pPr marL="342900" lvl="0" indent="-342900" algn="just" defTabSz="457200" fontAlgn="base">
              <a:lnSpc>
                <a:spcPct val="100000"/>
              </a:lnSpc>
              <a:spcBef>
                <a:spcPct val="0"/>
              </a:spcBef>
              <a:spcAft>
                <a:spcPct val="0"/>
              </a:spcAft>
              <a:defRPr/>
            </a:pPr>
            <a:r>
              <a:rPr lang="en-US" sz="2000" b="1" u="sng" dirty="0">
                <a:solidFill>
                  <a:prstClr val="black"/>
                </a:solidFill>
                <a:latin typeface="Times New Roman" panose="02020603050405020304" pitchFamily="18" charset="0"/>
                <a:cs typeface="Times New Roman" panose="02020603050405020304" pitchFamily="18" charset="0"/>
              </a:rPr>
              <a:t>Analysis of the feasibility of the idea:</a:t>
            </a:r>
            <a:endParaRPr lang="en-US" sz="2000" b="1" u="sng" dirty="0">
              <a:solidFill>
                <a:prstClr val="black"/>
              </a:solidFill>
              <a:latin typeface="Times New Roman" panose="02020603050405020304" pitchFamily="18" charset="0"/>
              <a:ea typeface="ＭＳ Ｐゴシック" pitchFamily="1" charset="-128"/>
              <a:cs typeface="Times New Roman" panose="02020603050405020304" pitchFamily="18" charset="0"/>
            </a:endParaRP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cs typeface="Times New Roman" panose="02020603050405020304" pitchFamily="18" charset="0"/>
              </a:rPr>
              <a:t>Uses commonly available web &amp; AI technologies</a:t>
            </a: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cs typeface="Times New Roman" panose="02020603050405020304" pitchFamily="18" charset="0"/>
              </a:rPr>
              <a:t>No additional hardware required</a:t>
            </a: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cs typeface="Times New Roman" panose="02020603050405020304" pitchFamily="18" charset="0"/>
              </a:rPr>
              <a:t>Can be implemented as a scalable prototype</a:t>
            </a: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cs typeface="Times New Roman" panose="02020603050405020304" pitchFamily="18" charset="0"/>
              </a:rPr>
              <a:t>Suitable for municipal bodies like TMC, BMC, KDMC</a:t>
            </a:r>
          </a:p>
          <a:p>
            <a:pPr marL="800100" lvl="1" indent="-342900" algn="just" defTabSz="457200" fontAlgn="base">
              <a:lnSpc>
                <a:spcPct val="100000"/>
              </a:lnSpc>
              <a:spcBef>
                <a:spcPct val="0"/>
              </a:spcBef>
              <a:spcAft>
                <a:spcPct val="0"/>
              </a:spcAft>
              <a:defRPr/>
            </a:pPr>
            <a:endParaRPr lang="en-US" sz="2000" dirty="0">
              <a:solidFill>
                <a:prstClr val="black"/>
              </a:solidFill>
              <a:latin typeface="Times New Roman" panose="02020603050405020304" pitchFamily="18" charset="0"/>
              <a:cs typeface="Times New Roman" panose="02020603050405020304" pitchFamily="18" charset="0"/>
            </a:endParaRPr>
          </a:p>
          <a:p>
            <a:pPr marL="342900" lvl="0" indent="-342900" algn="just" defTabSz="457200" fontAlgn="base">
              <a:lnSpc>
                <a:spcPct val="100000"/>
              </a:lnSpc>
              <a:spcBef>
                <a:spcPct val="0"/>
              </a:spcBef>
              <a:spcAft>
                <a:spcPct val="0"/>
              </a:spcAft>
              <a:defRPr/>
            </a:pPr>
            <a:r>
              <a:rPr lang="en-US" sz="2000" b="1" u="sng" dirty="0">
                <a:solidFill>
                  <a:prstClr val="black"/>
                </a:solidFill>
                <a:latin typeface="Times New Roman" panose="02020603050405020304" pitchFamily="18" charset="0"/>
                <a:cs typeface="Times New Roman" panose="02020603050405020304" pitchFamily="18" charset="0"/>
              </a:rPr>
              <a:t>Potential challenges and risks:</a:t>
            </a: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ea typeface="ＭＳ Ｐゴシック" pitchFamily="1" charset="-128"/>
                <a:cs typeface="Times New Roman" panose="02020603050405020304" pitchFamily="18" charset="0"/>
              </a:rPr>
              <a:t>Image verification accuracy</a:t>
            </a: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ea typeface="ＭＳ Ｐゴシック" pitchFamily="1" charset="-128"/>
                <a:cs typeface="Times New Roman" panose="02020603050405020304" pitchFamily="18" charset="0"/>
              </a:rPr>
              <a:t>NLP model accuracy for sector &amp; urgency detection</a:t>
            </a: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ea typeface="ＭＳ Ｐゴシック" pitchFamily="1" charset="-128"/>
                <a:cs typeface="Times New Roman" panose="02020603050405020304" pitchFamily="18" charset="0"/>
              </a:rPr>
              <a:t>Real-time complaint routing efficiency</a:t>
            </a:r>
          </a:p>
          <a:p>
            <a:pPr marL="342900" lvl="0" indent="-342900" algn="just" defTabSz="457200" fontAlgn="base">
              <a:lnSpc>
                <a:spcPct val="100000"/>
              </a:lnSpc>
              <a:spcBef>
                <a:spcPct val="0"/>
              </a:spcBef>
              <a:spcAft>
                <a:spcPct val="0"/>
              </a:spcAft>
              <a:defRPr/>
            </a:pPr>
            <a:endParaRPr lang="en-US" sz="2000" dirty="0">
              <a:solidFill>
                <a:prstClr val="black"/>
              </a:solidFill>
              <a:latin typeface="Times New Roman" panose="02020603050405020304" pitchFamily="18" charset="0"/>
              <a:ea typeface="ＭＳ Ｐゴシック" pitchFamily="1" charset="-128"/>
              <a:cs typeface="Times New Roman" panose="02020603050405020304" pitchFamily="18" charset="0"/>
            </a:endParaRPr>
          </a:p>
          <a:p>
            <a:pPr marL="342900" lvl="0" indent="-342900" algn="just" defTabSz="457200" fontAlgn="base">
              <a:lnSpc>
                <a:spcPct val="100000"/>
              </a:lnSpc>
              <a:spcBef>
                <a:spcPct val="0"/>
              </a:spcBef>
              <a:spcAft>
                <a:spcPct val="0"/>
              </a:spcAft>
              <a:defRPr/>
            </a:pPr>
            <a:r>
              <a:rPr lang="en-US" sz="2000" b="1" u="sng" dirty="0">
                <a:solidFill>
                  <a:prstClr val="black"/>
                </a:solidFill>
                <a:latin typeface="Times New Roman" panose="02020603050405020304" pitchFamily="18" charset="0"/>
                <a:ea typeface="ＭＳ Ｐゴシック" pitchFamily="1" charset="-128"/>
                <a:cs typeface="Times New Roman" panose="02020603050405020304" pitchFamily="18" charset="0"/>
              </a:rPr>
              <a:t>Strategies for overcoming these challenges:</a:t>
            </a: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ea typeface="ＭＳ Ｐゴシック" pitchFamily="1" charset="-128"/>
                <a:cs typeface="Times New Roman" panose="02020603050405020304" pitchFamily="18" charset="0"/>
              </a:rPr>
              <a:t>Use pretrained CV models for image validation</a:t>
            </a: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ea typeface="ＭＳ Ｐゴシック" pitchFamily="1" charset="-128"/>
                <a:cs typeface="Times New Roman" panose="02020603050405020304" pitchFamily="18" charset="0"/>
              </a:rPr>
              <a:t>Fine-tune NLP model with civic complaint datasets </a:t>
            </a:r>
          </a:p>
          <a:p>
            <a:pPr lvl="1" algn="just" defTabSz="457200" fontAlgn="base">
              <a:lnSpc>
                <a:spcPct val="100000"/>
              </a:lnSpc>
              <a:spcBef>
                <a:spcPct val="0"/>
              </a:spcBef>
              <a:spcAft>
                <a:spcPct val="0"/>
              </a:spcAft>
              <a:buFont typeface="Courier New" panose="02070309020205020404" pitchFamily="49" charset="0"/>
              <a:buChar char="o"/>
              <a:defRPr/>
            </a:pPr>
            <a:r>
              <a:rPr lang="en-US" sz="2000" dirty="0">
                <a:solidFill>
                  <a:prstClr val="black"/>
                </a:solidFill>
                <a:latin typeface="Times New Roman" panose="02020603050405020304" pitchFamily="18" charset="0"/>
                <a:ea typeface="ＭＳ Ｐゴシック" pitchFamily="1" charset="-128"/>
                <a:cs typeface="Times New Roman" panose="02020603050405020304" pitchFamily="18" charset="0"/>
              </a:rPr>
              <a:t>Rule-based fallback for complaint assignment</a:t>
            </a:r>
          </a:p>
          <a:p>
            <a:endParaRPr lang="en-IN" sz="2000" dirty="0"/>
          </a:p>
        </p:txBody>
      </p:sp>
      <p:sp>
        <p:nvSpPr>
          <p:cNvPr id="5" name="Slide Number Placeholder 4">
            <a:extLst>
              <a:ext uri="{FF2B5EF4-FFF2-40B4-BE49-F238E27FC236}">
                <a16:creationId xmlns:a16="http://schemas.microsoft.com/office/drawing/2014/main" id="{34540FD3-2B5F-1F80-219A-A80AFE26D83C}"/>
              </a:ext>
            </a:extLst>
          </p:cNvPr>
          <p:cNvSpPr>
            <a:spLocks noGrp="1"/>
          </p:cNvSpPr>
          <p:nvPr>
            <p:ph type="sldNum" sz="quarter" idx="12"/>
          </p:nvPr>
        </p:nvSpPr>
        <p:spPr/>
        <p:txBody>
          <a:bodyPr/>
          <a:lstStyle/>
          <a:p>
            <a:fld id="{54A0433F-D463-4C6D-93BB-5B095B314A64}" type="slidenum">
              <a:rPr lang="en-IN" smtClean="0"/>
              <a:t>11</a:t>
            </a:fld>
            <a:endParaRPr lang="en-IN"/>
          </a:p>
        </p:txBody>
      </p:sp>
    </p:spTree>
    <p:extLst>
      <p:ext uri="{BB962C8B-B14F-4D97-AF65-F5344CB8AC3E}">
        <p14:creationId xmlns:p14="http://schemas.microsoft.com/office/powerpoint/2010/main" val="1822931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680AD-A2AF-165B-E533-5D04BE849FDF}"/>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DA05D9-BD2E-4E54-B7F6-2C18CA3C784F}"/>
              </a:ext>
            </a:extLst>
          </p:cNvPr>
          <p:cNvSpPr>
            <a:spLocks noGrp="1"/>
          </p:cNvSpPr>
          <p:nvPr>
            <p:ph idx="1"/>
          </p:nvPr>
        </p:nvSpPr>
        <p:spPr>
          <a:xfrm>
            <a:off x="838200" y="1690689"/>
            <a:ext cx="10515600" cy="3694111"/>
          </a:xfrm>
        </p:spPr>
        <p:txBody>
          <a:bodyPr>
            <a:normAutofit/>
          </a:bodyPr>
          <a:lstStyle/>
          <a:p>
            <a:pPr algn="just"/>
            <a:r>
              <a:rPr lang="en-US" sz="2000" b="1" dirty="0">
                <a:latin typeface="Times New Roman" panose="02020603050405020304" pitchFamily="18" charset="0"/>
                <a:cs typeface="Times New Roman" panose="02020603050405020304" pitchFamily="18" charset="0"/>
              </a:rPr>
              <a:t>Innovative Technological Foundation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Civic Mind delivers an AI-driven framework engineered for modern urban management complexities. Machine learning automates the grievance lifecycle from reporting to resolution, ensuring scalability during data surges.</a:t>
            </a:r>
          </a:p>
          <a:p>
            <a:pPr algn="just"/>
            <a:r>
              <a:rPr lang="en-US" sz="2000" b="1" dirty="0">
                <a:latin typeface="Times New Roman" panose="02020603050405020304" pitchFamily="18" charset="0"/>
                <a:cs typeface="Times New Roman" panose="02020603050405020304" pitchFamily="18" charset="0"/>
              </a:rPr>
              <a:t>Operational Excellence and Governance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platform eliminates manual administrative friction through intelligent data processing, bridging gaps between municipal departments and residents for more responsive, precise governance.</a:t>
            </a:r>
          </a:p>
          <a:p>
            <a:pPr algn="just"/>
            <a:r>
              <a:rPr lang="en-US" sz="2000" b="1" dirty="0">
                <a:latin typeface="Times New Roman" panose="02020603050405020304" pitchFamily="18" charset="0"/>
                <a:cs typeface="Times New Roman" panose="02020603050405020304" pitchFamily="18" charset="0"/>
              </a:rPr>
              <a:t>Empowering Citizen Engagement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 transparent, user-centric interface enables real-time tracking and clear communication, transforming residents from passive observers into active participants who trust public institutions.</a:t>
            </a:r>
          </a:p>
          <a:p>
            <a:pPr algn="just"/>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ED857C7-FEB3-27BF-4F1D-50BD73D33DFD}"/>
              </a:ext>
            </a:extLst>
          </p:cNvPr>
          <p:cNvSpPr>
            <a:spLocks noGrp="1"/>
          </p:cNvSpPr>
          <p:nvPr>
            <p:ph type="sldNum" sz="quarter" idx="12"/>
          </p:nvPr>
        </p:nvSpPr>
        <p:spPr/>
        <p:txBody>
          <a:bodyPr/>
          <a:lstStyle/>
          <a:p>
            <a:fld id="{54A0433F-D463-4C6D-93BB-5B095B314A64}" type="slidenum">
              <a:rPr lang="en-IN" smtClean="0"/>
              <a:t>12</a:t>
            </a:fld>
            <a:endParaRPr lang="en-IN"/>
          </a:p>
        </p:txBody>
      </p:sp>
    </p:spTree>
    <p:extLst>
      <p:ext uri="{BB962C8B-B14F-4D97-AF65-F5344CB8AC3E}">
        <p14:creationId xmlns:p14="http://schemas.microsoft.com/office/powerpoint/2010/main" val="956642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B280C-3F46-3433-2B7D-CDAD1DE6C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AB055-2012-9DDC-B230-BB68F12860E5}"/>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4839F89-C034-132D-476C-C9A7B317428C}"/>
              </a:ext>
            </a:extLst>
          </p:cNvPr>
          <p:cNvSpPr>
            <a:spLocks noGrp="1"/>
          </p:cNvSpPr>
          <p:nvPr>
            <p:ph type="sldNum" sz="quarter" idx="12"/>
          </p:nvPr>
        </p:nvSpPr>
        <p:spPr/>
        <p:txBody>
          <a:bodyPr/>
          <a:lstStyle/>
          <a:p>
            <a:fld id="{54A0433F-D463-4C6D-93BB-5B095B314A64}" type="slidenum">
              <a:rPr lang="en-IN" smtClean="0"/>
              <a:t>13</a:t>
            </a:fld>
            <a:endParaRPr lang="en-IN"/>
          </a:p>
        </p:txBody>
      </p:sp>
      <p:sp>
        <p:nvSpPr>
          <p:cNvPr id="9" name="TextBox 8">
            <a:extLst>
              <a:ext uri="{FF2B5EF4-FFF2-40B4-BE49-F238E27FC236}">
                <a16:creationId xmlns:a16="http://schemas.microsoft.com/office/drawing/2014/main" id="{5922267A-1F7B-698C-CCC5-A08E35F29E30}"/>
              </a:ext>
            </a:extLst>
          </p:cNvPr>
          <p:cNvSpPr txBox="1"/>
          <p:nvPr/>
        </p:nvSpPr>
        <p:spPr>
          <a:xfrm>
            <a:off x="838200" y="1808965"/>
            <a:ext cx="10515600" cy="347787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CivicMind</a:t>
            </a:r>
            <a:r>
              <a:rPr lang="en-US" sz="2000" dirty="0">
                <a:latin typeface="Times New Roman" panose="02020603050405020304" pitchFamily="18" charset="0"/>
                <a:cs typeface="Times New Roman" panose="02020603050405020304" pitchFamily="18" charset="0"/>
              </a:rPr>
              <a:t> establishes an innovative, AI-driven technological foundation designed to address the growing complexities of modern urban governance. By leveraging machine learning, the platform automates the entire grievance lifecycle—from complaint reporting to resolution—ensuring scalability and efficiency even during high data surges. It enhances operational excellence by eliminating manual administrative bottlenecks through intelligent data processing, thereby streamlining coordination between municipal departments and residents for more responsive and precise governance.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Additionally, </a:t>
            </a:r>
            <a:r>
              <a:rPr lang="en-US" sz="2000" dirty="0" err="1">
                <a:latin typeface="Times New Roman" panose="02020603050405020304" pitchFamily="18" charset="0"/>
                <a:cs typeface="Times New Roman" panose="02020603050405020304" pitchFamily="18" charset="0"/>
              </a:rPr>
              <a:t>CivicMind</a:t>
            </a:r>
            <a:r>
              <a:rPr lang="en-US" sz="2000" dirty="0">
                <a:latin typeface="Times New Roman" panose="02020603050405020304" pitchFamily="18" charset="0"/>
                <a:cs typeface="Times New Roman" panose="02020603050405020304" pitchFamily="18" charset="0"/>
              </a:rPr>
              <a:t> empowers citizen engagement through a transparent, user-centric interface that enables real-time tracking and clear communication, transforming residents from passive observers into active participants who build greater trust in public institutions.</a:t>
            </a:r>
          </a:p>
        </p:txBody>
      </p:sp>
    </p:spTree>
    <p:extLst>
      <p:ext uri="{BB962C8B-B14F-4D97-AF65-F5344CB8AC3E}">
        <p14:creationId xmlns:p14="http://schemas.microsoft.com/office/powerpoint/2010/main" val="1923201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B8E92-FEBD-2E08-39E4-3B5358755A47}"/>
              </a:ext>
            </a:extLst>
          </p:cNvPr>
          <p:cNvSpPr>
            <a:spLocks noGrp="1"/>
          </p:cNvSpPr>
          <p:nvPr>
            <p:ph type="title"/>
          </p:nvPr>
        </p:nvSpPr>
        <p:spPr>
          <a:xfrm>
            <a:off x="838200" y="0"/>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Impact and Benefits</a:t>
            </a:r>
          </a:p>
        </p:txBody>
      </p:sp>
      <p:sp>
        <p:nvSpPr>
          <p:cNvPr id="3" name="Content Placeholder 2">
            <a:extLst>
              <a:ext uri="{FF2B5EF4-FFF2-40B4-BE49-F238E27FC236}">
                <a16:creationId xmlns:a16="http://schemas.microsoft.com/office/drawing/2014/main" id="{DBC66C1E-512F-3545-3D00-D7146FAF77DD}"/>
              </a:ext>
            </a:extLst>
          </p:cNvPr>
          <p:cNvSpPr>
            <a:spLocks noGrp="1"/>
          </p:cNvSpPr>
          <p:nvPr>
            <p:ph idx="1"/>
          </p:nvPr>
        </p:nvSpPr>
        <p:spPr>
          <a:xfrm>
            <a:off x="838200" y="1216026"/>
            <a:ext cx="10515600" cy="4894518"/>
          </a:xfrm>
        </p:spPr>
        <p:txBody>
          <a:bodyPr>
            <a:normAutofit/>
          </a:bodyPr>
          <a:lstStyle/>
          <a:p>
            <a:pPr algn="just"/>
            <a:r>
              <a:rPr lang="en-US" sz="2000" b="1" u="sng" dirty="0">
                <a:latin typeface="Times New Roman" panose="02020603050405020304" pitchFamily="18" charset="0"/>
                <a:cs typeface="Times New Roman" panose="02020603050405020304" pitchFamily="18" charset="0"/>
              </a:rPr>
              <a:t>Impact on Citizens</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Faster grievance resolution</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Transparent complaint tracking</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Access to official municipal notices</a:t>
            </a:r>
          </a:p>
          <a:p>
            <a:pPr lvl="1" algn="just">
              <a:buFont typeface="Courier New" panose="02070309020205020404" pitchFamily="49" charset="0"/>
              <a:buChar char="o"/>
            </a:pPr>
            <a:endParaRPr lang="en-US" sz="2000" dirty="0">
              <a:latin typeface="Times New Roman" panose="02020603050405020304" pitchFamily="18" charset="0"/>
              <a:cs typeface="Times New Roman" panose="02020603050405020304" pitchFamily="18" charset="0"/>
            </a:endParaRPr>
          </a:p>
          <a:p>
            <a:pPr algn="just"/>
            <a:r>
              <a:rPr lang="en-US" sz="2000" b="1" u="sng" dirty="0">
                <a:latin typeface="Times New Roman" panose="02020603050405020304" pitchFamily="18" charset="0"/>
                <a:cs typeface="Times New Roman" panose="02020603050405020304" pitchFamily="18" charset="0"/>
              </a:rPr>
              <a:t>Impact on Municipal Corporations</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Automated complaint allocation</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Balanced workload across employees</a:t>
            </a:r>
          </a:p>
          <a:p>
            <a:pPr lvl="1"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Real-time performance monitoring</a:t>
            </a:r>
          </a:p>
          <a:p>
            <a:pPr lvl="1" algn="just">
              <a:buFont typeface="Courier New" panose="02070309020205020404" pitchFamily="49" charset="0"/>
              <a:buChar char="o"/>
            </a:pPr>
            <a:endParaRPr lang="en-US" sz="2000" dirty="0">
              <a:latin typeface="Times New Roman" panose="02020603050405020304" pitchFamily="18" charset="0"/>
              <a:cs typeface="Times New Roman" panose="02020603050405020304" pitchFamily="18" charset="0"/>
            </a:endParaRPr>
          </a:p>
          <a:p>
            <a:pPr algn="just"/>
            <a:r>
              <a:rPr lang="en-US" sz="2000" b="1" u="sng" dirty="0">
                <a:latin typeface="Times New Roman" panose="02020603050405020304" pitchFamily="18" charset="0"/>
                <a:cs typeface="Times New Roman" panose="02020603050405020304" pitchFamily="18" charset="0"/>
              </a:rPr>
              <a:t>Overall Benefits</a:t>
            </a:r>
            <a:endParaRPr lang="en-US" sz="2000" u="sng" dirty="0">
              <a:latin typeface="Times New Roman" panose="02020603050405020304" pitchFamily="18" charset="0"/>
              <a:cs typeface="Times New Roman" panose="02020603050405020304" pitchFamily="18" charset="0"/>
            </a:endParaRPr>
          </a:p>
          <a:p>
            <a:pPr lvl="1" algn="just">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Social</a:t>
            </a:r>
            <a:r>
              <a:rPr lang="en-US" sz="2000" dirty="0">
                <a:latin typeface="Times New Roman" panose="02020603050405020304" pitchFamily="18" charset="0"/>
                <a:cs typeface="Times New Roman" panose="02020603050405020304" pitchFamily="18" charset="0"/>
              </a:rPr>
              <a:t>: Improved civic participation</a:t>
            </a:r>
          </a:p>
          <a:p>
            <a:pPr lvl="1" algn="just">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Operational</a:t>
            </a:r>
            <a:r>
              <a:rPr lang="en-US" sz="2000" dirty="0">
                <a:latin typeface="Times New Roman" panose="02020603050405020304" pitchFamily="18" charset="0"/>
                <a:cs typeface="Times New Roman" panose="02020603050405020304" pitchFamily="18" charset="0"/>
              </a:rPr>
              <a:t>: Reduced manual workload</a:t>
            </a:r>
          </a:p>
          <a:p>
            <a:pPr lvl="1" algn="just">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Governance</a:t>
            </a:r>
            <a:r>
              <a:rPr lang="en-US" sz="2000" dirty="0">
                <a:latin typeface="Times New Roman" panose="02020603050405020304" pitchFamily="18" charset="0"/>
                <a:cs typeface="Times New Roman" panose="02020603050405020304" pitchFamily="18" charset="0"/>
              </a:rPr>
              <a:t>: Higher accountability &amp; transparency</a:t>
            </a:r>
          </a:p>
        </p:txBody>
      </p:sp>
      <p:sp>
        <p:nvSpPr>
          <p:cNvPr id="4" name="Footer Placeholder 3">
            <a:extLst>
              <a:ext uri="{FF2B5EF4-FFF2-40B4-BE49-F238E27FC236}">
                <a16:creationId xmlns:a16="http://schemas.microsoft.com/office/drawing/2014/main" id="{BDC85EB0-3908-6B7F-0F2F-B3E69A102EAB}"/>
              </a:ext>
            </a:extLst>
          </p:cNvPr>
          <p:cNvSpPr>
            <a:spLocks noGrp="1"/>
          </p:cNvSpPr>
          <p:nvPr>
            <p:ph type="ftr" sz="quarter" idx="11"/>
          </p:nvPr>
        </p:nvSpPr>
        <p:spPr/>
        <p:txBody>
          <a:bodyPr/>
          <a:lstStyle/>
          <a:p>
            <a:r>
              <a:rPr lang="en-US"/>
              <a:t>Mini Project Topic Approval </a:t>
            </a:r>
            <a:endParaRPr lang="en-IN"/>
          </a:p>
        </p:txBody>
      </p:sp>
      <p:sp>
        <p:nvSpPr>
          <p:cNvPr id="5" name="Slide Number Placeholder 4">
            <a:extLst>
              <a:ext uri="{FF2B5EF4-FFF2-40B4-BE49-F238E27FC236}">
                <a16:creationId xmlns:a16="http://schemas.microsoft.com/office/drawing/2014/main" id="{8CB55839-97F2-3F91-AE42-1FA32CEA188F}"/>
              </a:ext>
            </a:extLst>
          </p:cNvPr>
          <p:cNvSpPr>
            <a:spLocks noGrp="1"/>
          </p:cNvSpPr>
          <p:nvPr>
            <p:ph type="sldNum" sz="quarter" idx="12"/>
          </p:nvPr>
        </p:nvSpPr>
        <p:spPr/>
        <p:txBody>
          <a:bodyPr/>
          <a:lstStyle/>
          <a:p>
            <a:fld id="{54A0433F-D463-4C6D-93BB-5B095B314A64}" type="slidenum">
              <a:rPr lang="en-IN" smtClean="0"/>
              <a:t>14</a:t>
            </a:fld>
            <a:endParaRPr lang="en-IN"/>
          </a:p>
        </p:txBody>
      </p:sp>
    </p:spTree>
    <p:extLst>
      <p:ext uri="{BB962C8B-B14F-4D97-AF65-F5344CB8AC3E}">
        <p14:creationId xmlns:p14="http://schemas.microsoft.com/office/powerpoint/2010/main" val="1146444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036B9-9AF2-E630-A253-B184F57B6EA4}"/>
              </a:ext>
            </a:extLst>
          </p:cNvPr>
          <p:cNvSpPr>
            <a:spLocks noGrp="1"/>
          </p:cNvSpPr>
          <p:nvPr>
            <p:ph type="title"/>
          </p:nvPr>
        </p:nvSpPr>
        <p:spPr/>
        <p:txBody>
          <a:bodyPr>
            <a:normAutofit/>
          </a:bodyPr>
          <a:lstStyle/>
          <a:p>
            <a:pPr algn="ctr"/>
            <a:r>
              <a:rPr lang="en-IN" sz="3200" b="1" dirty="0">
                <a:latin typeface="Times New Roman" panose="02020603050405020304" pitchFamily="18" charset="0"/>
                <a:cs typeface="Times New Roman" panose="02020603050405020304" pitchFamily="18" charset="0"/>
              </a:rPr>
              <a:t>Research and References</a:t>
            </a:r>
          </a:p>
        </p:txBody>
      </p:sp>
      <p:sp>
        <p:nvSpPr>
          <p:cNvPr id="3" name="Content Placeholder 2">
            <a:extLst>
              <a:ext uri="{FF2B5EF4-FFF2-40B4-BE49-F238E27FC236}">
                <a16:creationId xmlns:a16="http://schemas.microsoft.com/office/drawing/2014/main" id="{390DA862-E7EF-267E-3D61-23BA0498E940}"/>
              </a:ext>
            </a:extLst>
          </p:cNvPr>
          <p:cNvSpPr>
            <a:spLocks noGrp="1"/>
          </p:cNvSpPr>
          <p:nvPr>
            <p:ph idx="1"/>
          </p:nvPr>
        </p:nvSpPr>
        <p:spPr>
          <a:xfrm>
            <a:off x="838200" y="1571625"/>
            <a:ext cx="10515600" cy="4667250"/>
          </a:xfrm>
        </p:spPr>
        <p:txBody>
          <a:bodyPr>
            <a:normAutofit fontScale="85000" lnSpcReduction="20000"/>
          </a:bodyPr>
          <a:lstStyle/>
          <a:p>
            <a:pPr algn="just">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[1] A. Saha, A. </a:t>
            </a:r>
            <a:r>
              <a:rPr lang="en-IN" sz="2000" dirty="0" err="1">
                <a:latin typeface="Times New Roman" panose="02020603050405020304" pitchFamily="18" charset="0"/>
                <a:cs typeface="Times New Roman" panose="02020603050405020304" pitchFamily="18" charset="0"/>
              </a:rPr>
              <a:t>Chaure</a:t>
            </a:r>
            <a:r>
              <a:rPr lang="en-IN" sz="2000" dirty="0">
                <a:latin typeface="Times New Roman" panose="02020603050405020304" pitchFamily="18" charset="0"/>
                <a:cs typeface="Times New Roman" panose="02020603050405020304" pitchFamily="18" charset="0"/>
              </a:rPr>
              <a:t>, A. Aayush, A. Bodhe, and T. D. Bhagat, “Automated Complaint Classification and Routing Using NLP and Machine Learning,” International Journal of Innovative Research in Technology (IJIRT), vol. 11, no. 6, Nov. 2024. </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[2] D. </a:t>
            </a:r>
            <a:r>
              <a:rPr lang="en-IN" sz="2000" dirty="0" err="1">
                <a:latin typeface="Times New Roman" panose="02020603050405020304" pitchFamily="18" charset="0"/>
                <a:cs typeface="Times New Roman" panose="02020603050405020304" pitchFamily="18" charset="0"/>
              </a:rPr>
              <a:t>Walwadkar</a:t>
            </a:r>
            <a:r>
              <a:rPr lang="en-IN" sz="2000" dirty="0">
                <a:latin typeface="Times New Roman" panose="02020603050405020304" pitchFamily="18" charset="0"/>
                <a:cs typeface="Times New Roman" panose="02020603050405020304" pitchFamily="18" charset="0"/>
              </a:rPr>
              <a:t>, J. Patil, M. Hussain, and S. Yadav, “Smart Civic Issue Reporting System,” International Journal of Advanced Research in Science, Communication and Technology (IJARSCT), vol. 2, no. 1, Mar. 2022,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10.48175/IJARSCT-2659. </a:t>
            </a:r>
          </a:p>
          <a:p>
            <a:pPr algn="just">
              <a:buFont typeface="Courier New" panose="02070309020205020404" pitchFamily="49" charset="0"/>
              <a:buChar char="o"/>
            </a:pPr>
            <a:endParaRPr lang="en-IN" sz="2000" dirty="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[3] C. Ashwitha and K. Vani, “Smart Civic Complaint Analyzer Using Natural Language Processing,” International Journal of Innovative Research in Technology (IJIRT), vol. 12, no. 6, Nov. 2025. </a:t>
            </a:r>
          </a:p>
          <a:p>
            <a:pPr algn="just">
              <a:buFont typeface="Courier New" panose="02070309020205020404" pitchFamily="49" charset="0"/>
              <a:buChar char="o"/>
            </a:pPr>
            <a:endParaRPr lang="en-IN" sz="2000" dirty="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[4] C. Sierra, F. Huanca, M. Torres, and F. Núñez, “An Integrated Complaint Management System Based on Large Language Models: Case Study in the Electric Sector,” Array, vol. 28, 2025, Art. no. 100570,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10.1016/j.array.2025.100570. </a:t>
            </a:r>
          </a:p>
          <a:p>
            <a:pPr algn="just">
              <a:buFont typeface="Courier New" panose="02070309020205020404" pitchFamily="49" charset="0"/>
              <a:buChar char="o"/>
            </a:pPr>
            <a:endParaRPr lang="en-IN" sz="2000" dirty="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[5] S. </a:t>
            </a:r>
            <a:r>
              <a:rPr lang="en-IN" sz="2000" dirty="0" err="1">
                <a:latin typeface="Times New Roman" panose="02020603050405020304" pitchFamily="18" charset="0"/>
                <a:cs typeface="Times New Roman" panose="02020603050405020304" pitchFamily="18" charset="0"/>
              </a:rPr>
              <a:t>Pongpaichet</a:t>
            </a:r>
            <a:r>
              <a:rPr lang="en-IN" sz="2000" dirty="0">
                <a:latin typeface="Times New Roman" panose="02020603050405020304" pitchFamily="18" charset="0"/>
                <a:cs typeface="Times New Roman" panose="02020603050405020304" pitchFamily="18" charset="0"/>
              </a:rPr>
              <a:t>, P. </a:t>
            </a:r>
            <a:r>
              <a:rPr lang="en-IN" sz="2000" dirty="0" err="1">
                <a:latin typeface="Times New Roman" panose="02020603050405020304" pitchFamily="18" charset="0"/>
                <a:cs typeface="Times New Roman" panose="02020603050405020304" pitchFamily="18" charset="0"/>
              </a:rPr>
              <a:t>Kormpho</a:t>
            </a:r>
            <a:r>
              <a:rPr lang="en-IN" sz="2000" dirty="0">
                <a:latin typeface="Times New Roman" panose="02020603050405020304" pitchFamily="18" charset="0"/>
                <a:cs typeface="Times New Roman" panose="02020603050405020304" pitchFamily="18" charset="0"/>
              </a:rPr>
              <a:t>, P. </a:t>
            </a:r>
            <a:r>
              <a:rPr lang="en-IN" sz="2000" dirty="0" err="1">
                <a:latin typeface="Times New Roman" panose="02020603050405020304" pitchFamily="18" charset="0"/>
                <a:cs typeface="Times New Roman" panose="02020603050405020304" pitchFamily="18" charset="0"/>
              </a:rPr>
              <a:t>Liawsomboon</a:t>
            </a:r>
            <a:r>
              <a:rPr lang="en-IN" sz="2000" dirty="0">
                <a:latin typeface="Times New Roman" panose="02020603050405020304" pitchFamily="18" charset="0"/>
                <a:cs typeface="Times New Roman" panose="02020603050405020304" pitchFamily="18" charset="0"/>
              </a:rPr>
              <a:t>, and N. </a:t>
            </a:r>
            <a:r>
              <a:rPr lang="en-IN" sz="2000" dirty="0" err="1">
                <a:latin typeface="Times New Roman" panose="02020603050405020304" pitchFamily="18" charset="0"/>
                <a:cs typeface="Times New Roman" panose="02020603050405020304" pitchFamily="18" charset="0"/>
              </a:rPr>
              <a:t>Phongoen</a:t>
            </a:r>
            <a:r>
              <a:rPr lang="en-IN" sz="2000" dirty="0">
                <a:latin typeface="Times New Roman" panose="02020603050405020304" pitchFamily="18" charset="0"/>
                <a:cs typeface="Times New Roman" panose="02020603050405020304" pitchFamily="18" charset="0"/>
              </a:rPr>
              <a:t>, “Smart Complaint Management System,” in Proceedings of the International Symposium on Intelligent Signal Processing and Communication Systems (ISPC), 2018.</a:t>
            </a:r>
          </a:p>
          <a:p>
            <a:pPr algn="just">
              <a:buFont typeface="Courier New" panose="02070309020205020404" pitchFamily="49" charset="0"/>
              <a:buChar char="o"/>
            </a:pPr>
            <a:endParaRPr lang="en-US" sz="2000" dirty="0">
              <a:solidFill>
                <a:prstClr val="black"/>
              </a:solidFill>
              <a:latin typeface="Times New Roman" panose="02020603050405020304" pitchFamily="18" charset="0"/>
              <a:ea typeface="ＭＳ Ｐゴシック" pitchFamily="1" charset="-128"/>
              <a:cs typeface="Times New Roman" panose="02020603050405020304" pitchFamily="18" charset="0"/>
            </a:endParaRPr>
          </a:p>
          <a:p>
            <a:pPr algn="just">
              <a:buFont typeface="Courier New" panose="02070309020205020404" pitchFamily="49" charset="0"/>
              <a:buChar char="o"/>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45A2E03-FAB8-3248-C998-222B8C722845}"/>
              </a:ext>
            </a:extLst>
          </p:cNvPr>
          <p:cNvSpPr>
            <a:spLocks noGrp="1"/>
          </p:cNvSpPr>
          <p:nvPr>
            <p:ph type="ftr" sz="quarter" idx="11"/>
          </p:nvPr>
        </p:nvSpPr>
        <p:spPr/>
        <p:txBody>
          <a:bodyPr/>
          <a:lstStyle/>
          <a:p>
            <a:r>
              <a:rPr lang="en-US"/>
              <a:t>Mini Project Topic Approval </a:t>
            </a:r>
            <a:endParaRPr lang="en-IN"/>
          </a:p>
        </p:txBody>
      </p:sp>
      <p:sp>
        <p:nvSpPr>
          <p:cNvPr id="5" name="Slide Number Placeholder 4">
            <a:extLst>
              <a:ext uri="{FF2B5EF4-FFF2-40B4-BE49-F238E27FC236}">
                <a16:creationId xmlns:a16="http://schemas.microsoft.com/office/drawing/2014/main" id="{9545E646-F7F8-38CF-739E-A97E60595621}"/>
              </a:ext>
            </a:extLst>
          </p:cNvPr>
          <p:cNvSpPr>
            <a:spLocks noGrp="1"/>
          </p:cNvSpPr>
          <p:nvPr>
            <p:ph type="sldNum" sz="quarter" idx="12"/>
          </p:nvPr>
        </p:nvSpPr>
        <p:spPr/>
        <p:txBody>
          <a:bodyPr/>
          <a:lstStyle/>
          <a:p>
            <a:fld id="{54A0433F-D463-4C6D-93BB-5B095B314A64}" type="slidenum">
              <a:rPr lang="en-IN" smtClean="0"/>
              <a:t>15</a:t>
            </a:fld>
            <a:endParaRPr lang="en-IN"/>
          </a:p>
        </p:txBody>
      </p:sp>
    </p:spTree>
    <p:extLst>
      <p:ext uri="{BB962C8B-B14F-4D97-AF65-F5344CB8AC3E}">
        <p14:creationId xmlns:p14="http://schemas.microsoft.com/office/powerpoint/2010/main" val="2764661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4086B-ABDD-8011-D388-90260CFD24DA}"/>
              </a:ext>
            </a:extLst>
          </p:cNvPr>
          <p:cNvSpPr>
            <a:spLocks noGrp="1"/>
          </p:cNvSpPr>
          <p:nvPr>
            <p:ph type="title"/>
          </p:nvPr>
        </p:nvSpPr>
        <p:spPr>
          <a:xfrm>
            <a:off x="523568" y="0"/>
            <a:ext cx="10515600" cy="1325563"/>
          </a:xfrm>
        </p:spPr>
        <p:txBody>
          <a:bodyPr>
            <a:normAutofit/>
          </a:bodyPr>
          <a:lstStyle/>
          <a:p>
            <a:pPr algn="ctr"/>
            <a:r>
              <a:rPr lang="en-IN" sz="3200" b="1" dirty="0">
                <a:highlight>
                  <a:srgbClr val="FFFF00"/>
                </a:highlight>
                <a:latin typeface="Times New Roman" panose="02020603050405020304" pitchFamily="18" charset="0"/>
                <a:cs typeface="Times New Roman" panose="02020603050405020304" pitchFamily="18" charset="0"/>
              </a:rPr>
              <a:t>Important Instructions</a:t>
            </a:r>
          </a:p>
        </p:txBody>
      </p:sp>
      <p:sp>
        <p:nvSpPr>
          <p:cNvPr id="3" name="Content Placeholder 2">
            <a:extLst>
              <a:ext uri="{FF2B5EF4-FFF2-40B4-BE49-F238E27FC236}">
                <a16:creationId xmlns:a16="http://schemas.microsoft.com/office/drawing/2014/main" id="{297614C8-2ED7-207B-D221-3D6E9B315124}"/>
              </a:ext>
            </a:extLst>
          </p:cNvPr>
          <p:cNvSpPr>
            <a:spLocks noGrp="1"/>
          </p:cNvSpPr>
          <p:nvPr>
            <p:ph idx="1"/>
          </p:nvPr>
        </p:nvSpPr>
        <p:spPr/>
        <p:txBody>
          <a:bodyPr>
            <a:normAutofit fontScale="85000" lnSpcReduction="20000"/>
          </a:bodyPr>
          <a:lstStyle/>
          <a:p>
            <a:pPr marL="514350" lvl="0" indent="-514350">
              <a:spcBef>
                <a:spcPts val="0"/>
              </a:spcBef>
              <a:buClr>
                <a:schemeClr val="dk1"/>
              </a:buClr>
              <a:buSzPct val="100000"/>
              <a:buFont typeface="Calibri"/>
              <a:buAutoNum type="arabicPeriod"/>
            </a:pPr>
            <a:r>
              <a:rPr lang="en-US" sz="3300" dirty="0">
                <a:solidFill>
                  <a:schemeClr val="dk1"/>
                </a:solidFill>
                <a:latin typeface="Times New Roman" panose="02020603050405020304" pitchFamily="18" charset="0"/>
                <a:ea typeface="Calibri"/>
                <a:cs typeface="Times New Roman" panose="02020603050405020304" pitchFamily="18" charset="0"/>
                <a:sym typeface="Calibri"/>
              </a:rPr>
              <a:t>K</a:t>
            </a:r>
            <a:r>
              <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eep the maximum slides limit up to six </a:t>
            </a:r>
            <a:r>
              <a:rPr lang="en-US" sz="3300" i="0" u="none" strike="noStrike" cap="none" dirty="0">
                <a:solidFill>
                  <a:srgbClr val="C00000"/>
                </a:solidFill>
                <a:latin typeface="Times New Roman" panose="02020603050405020304" pitchFamily="18" charset="0"/>
                <a:ea typeface="Calibri"/>
                <a:cs typeface="Times New Roman" panose="02020603050405020304" pitchFamily="18" charset="0"/>
                <a:sym typeface="Calibri"/>
              </a:rPr>
              <a:t>(6). </a:t>
            </a:r>
            <a:r>
              <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Including the title slide) </a:t>
            </a:r>
            <a:endParaRPr lang="en-US" sz="3300" dirty="0">
              <a:latin typeface="Times New Roman" panose="02020603050405020304" pitchFamily="18" charset="0"/>
              <a:cs typeface="Times New Roman" panose="02020603050405020304" pitchFamily="18" charset="0"/>
            </a:endParaRPr>
          </a:p>
          <a:p>
            <a:pPr marL="514350" lvl="0" indent="-514350">
              <a:buClr>
                <a:schemeClr val="dk1"/>
              </a:buClr>
              <a:buSzPct val="100000"/>
              <a:buFont typeface="Calibri"/>
              <a:buAutoNum type="arabicPeriod"/>
            </a:pPr>
            <a:r>
              <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Try to avoid paragraphs and post your idea in points /diagrams / Infographics /pictures </a:t>
            </a:r>
            <a:endParaRPr lang="en-US" sz="3300" dirty="0">
              <a:latin typeface="Times New Roman" panose="02020603050405020304" pitchFamily="18" charset="0"/>
              <a:cs typeface="Times New Roman" panose="02020603050405020304" pitchFamily="18" charset="0"/>
            </a:endParaRPr>
          </a:p>
          <a:p>
            <a:pPr marL="514350" lvl="0" indent="-514350">
              <a:buClr>
                <a:schemeClr val="dk1"/>
              </a:buClr>
              <a:buSzPct val="100000"/>
              <a:buFont typeface="Calibri"/>
              <a:buAutoNum type="arabicPeriod"/>
            </a:pPr>
            <a:r>
              <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Keep your explanation precise and easy to understand</a:t>
            </a:r>
            <a:endParaRPr lang="en-US" sz="3300" dirty="0">
              <a:latin typeface="Times New Roman" panose="02020603050405020304" pitchFamily="18" charset="0"/>
              <a:cs typeface="Times New Roman" panose="02020603050405020304" pitchFamily="18" charset="0"/>
            </a:endParaRPr>
          </a:p>
          <a:p>
            <a:pPr marL="514350" lvl="0" indent="-514350">
              <a:buClr>
                <a:schemeClr val="dk1"/>
              </a:buClr>
              <a:buSzPct val="100000"/>
              <a:buFont typeface="Calibri"/>
              <a:buAutoNum type="arabicPeriod"/>
            </a:pPr>
            <a:r>
              <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Idea should be unique and novel. </a:t>
            </a:r>
            <a:endParaRPr lang="en-US" sz="3300" dirty="0">
              <a:latin typeface="Times New Roman" panose="02020603050405020304" pitchFamily="18" charset="0"/>
              <a:cs typeface="Times New Roman" panose="02020603050405020304" pitchFamily="18" charset="0"/>
            </a:endParaRPr>
          </a:p>
          <a:p>
            <a:pPr marL="514350" lvl="0" indent="-514350">
              <a:buClr>
                <a:schemeClr val="dk1"/>
              </a:buClr>
              <a:buSzPct val="100000"/>
              <a:buFont typeface="Calibri"/>
              <a:buAutoNum type="arabicPeriod"/>
            </a:pPr>
            <a:r>
              <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You can only use provided </a:t>
            </a:r>
            <a:r>
              <a:rPr lang="en-US" sz="3300" dirty="0">
                <a:solidFill>
                  <a:schemeClr val="dk1"/>
                </a:solidFill>
                <a:latin typeface="Times New Roman" panose="02020603050405020304" pitchFamily="18" charset="0"/>
                <a:ea typeface="Calibri"/>
                <a:cs typeface="Times New Roman" panose="02020603050405020304" pitchFamily="18" charset="0"/>
                <a:sym typeface="Calibri"/>
              </a:rPr>
              <a:t>template</a:t>
            </a:r>
            <a:r>
              <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for making the </a:t>
            </a:r>
            <a:r>
              <a:rPr lang="en-US" sz="3300" dirty="0">
                <a:solidFill>
                  <a:schemeClr val="dk1"/>
                </a:solidFill>
                <a:latin typeface="Times New Roman" panose="02020603050405020304" pitchFamily="18" charset="0"/>
                <a:ea typeface="Calibri"/>
                <a:cs typeface="Times New Roman" panose="02020603050405020304" pitchFamily="18" charset="0"/>
                <a:sym typeface="Calibri"/>
              </a:rPr>
              <a:t>PPT</a:t>
            </a:r>
            <a:r>
              <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without changing the </a:t>
            </a:r>
            <a:r>
              <a:rPr lang="en-US" sz="3300" dirty="0">
                <a:solidFill>
                  <a:schemeClr val="dk1"/>
                </a:solidFill>
                <a:latin typeface="Times New Roman" panose="02020603050405020304" pitchFamily="18" charset="0"/>
                <a:ea typeface="Calibri"/>
                <a:cs typeface="Times New Roman" panose="02020603050405020304" pitchFamily="18" charset="0"/>
                <a:sym typeface="Calibri"/>
              </a:rPr>
              <a:t>titles</a:t>
            </a:r>
            <a:r>
              <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of slides (mentioned in previous slides).</a:t>
            </a:r>
          </a:p>
          <a:p>
            <a:pPr marL="514350" lvl="0" indent="-349885">
              <a:buClr>
                <a:schemeClr val="dk1"/>
              </a:buClr>
              <a:buSzPct val="100000"/>
              <a:buNone/>
            </a:pPr>
            <a:endParaRPr lang="en-US" sz="33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lvl="0" indent="0" algn="just">
              <a:buClr>
                <a:schemeClr val="dk1"/>
              </a:buClr>
              <a:buSzPct val="100000"/>
              <a:buNone/>
            </a:pPr>
            <a:r>
              <a:rPr lang="en-US" sz="3300" i="0" u="none" strike="noStrike" cap="none" dirty="0">
                <a:solidFill>
                  <a:srgbClr val="C00000"/>
                </a:solidFill>
                <a:latin typeface="Times New Roman" panose="02020603050405020304" pitchFamily="18" charset="0"/>
                <a:ea typeface="Calibri"/>
                <a:cs typeface="Times New Roman" panose="02020603050405020304" pitchFamily="18" charset="0"/>
                <a:sym typeface="Calibri"/>
              </a:rPr>
              <a:t>Note - You can delete this slide when you prepare the details of your idea</a:t>
            </a:r>
            <a:endParaRPr lang="en-US" sz="3300" dirty="0">
              <a:solidFill>
                <a:srgbClr val="C00000"/>
              </a:solidFill>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3261FEC1-ACC4-0BE2-E0D6-2C5B6B26BF84}"/>
              </a:ext>
            </a:extLst>
          </p:cNvPr>
          <p:cNvSpPr txBox="1"/>
          <p:nvPr/>
        </p:nvSpPr>
        <p:spPr>
          <a:xfrm>
            <a:off x="393291" y="1280129"/>
            <a:ext cx="10785986" cy="341632"/>
          </a:xfrm>
          <a:prstGeom prst="rect">
            <a:avLst/>
          </a:prstGeom>
          <a:noFill/>
        </p:spPr>
        <p:txBody>
          <a:bodyPr wrap="square">
            <a:spAutoFit/>
          </a:bodyPr>
          <a:lstStyle/>
          <a:p>
            <a:pPr algn="just">
              <a:lnSpc>
                <a:spcPct val="90000"/>
              </a:lnSpc>
              <a:spcBef>
                <a:spcPts val="1000"/>
              </a:spcBef>
              <a:spcAft>
                <a:spcPts val="0"/>
              </a:spcAft>
              <a:buClr>
                <a:schemeClr val="dk1"/>
              </a:buClr>
              <a:buSzPct val="100000"/>
            </a:pPr>
            <a:r>
              <a:rPr lang="en-US" b="1" dirty="0">
                <a:solidFill>
                  <a:schemeClr val="dk1"/>
                </a:solidFill>
                <a:latin typeface="Times New Roman" panose="02020603050405020304" pitchFamily="18" charset="0"/>
                <a:ea typeface="Calibri"/>
                <a:cs typeface="Times New Roman" panose="02020603050405020304" pitchFamily="18" charset="0"/>
              </a:rPr>
              <a:t>Ensure below pointers are met while preparing the PPT:</a:t>
            </a:r>
            <a:endParaRPr lang="en-IN" b="1" dirty="0">
              <a:solidFill>
                <a:schemeClr val="dk1"/>
              </a:solidFill>
              <a:latin typeface="Times New Roman" panose="02020603050405020304" pitchFamily="18" charset="0"/>
              <a:ea typeface="Calibri"/>
              <a:cs typeface="Times New Roman" panose="02020603050405020304" pitchFamily="18" charset="0"/>
            </a:endParaRPr>
          </a:p>
        </p:txBody>
      </p:sp>
      <p:sp>
        <p:nvSpPr>
          <p:cNvPr id="6" name="Footer Placeholder 5">
            <a:extLst>
              <a:ext uri="{FF2B5EF4-FFF2-40B4-BE49-F238E27FC236}">
                <a16:creationId xmlns:a16="http://schemas.microsoft.com/office/drawing/2014/main" id="{F1E4AD1C-4DF5-4B13-BFC9-BDCCD5ABE3C0}"/>
              </a:ext>
            </a:extLst>
          </p:cNvPr>
          <p:cNvSpPr>
            <a:spLocks noGrp="1"/>
          </p:cNvSpPr>
          <p:nvPr>
            <p:ph type="ftr" sz="quarter" idx="11"/>
          </p:nvPr>
        </p:nvSpPr>
        <p:spPr/>
        <p:txBody>
          <a:bodyPr/>
          <a:lstStyle/>
          <a:p>
            <a:r>
              <a:rPr lang="en-US"/>
              <a:t>Mini Project Topic Approval </a:t>
            </a:r>
            <a:endParaRPr lang="en-IN"/>
          </a:p>
        </p:txBody>
      </p:sp>
      <p:sp>
        <p:nvSpPr>
          <p:cNvPr id="4" name="Slide Number Placeholder 3">
            <a:extLst>
              <a:ext uri="{FF2B5EF4-FFF2-40B4-BE49-F238E27FC236}">
                <a16:creationId xmlns:a16="http://schemas.microsoft.com/office/drawing/2014/main" id="{C98F39BF-B107-9274-E045-739447FAA3DE}"/>
              </a:ext>
            </a:extLst>
          </p:cNvPr>
          <p:cNvSpPr>
            <a:spLocks noGrp="1"/>
          </p:cNvSpPr>
          <p:nvPr>
            <p:ph type="sldNum" sz="quarter" idx="12"/>
          </p:nvPr>
        </p:nvSpPr>
        <p:spPr/>
        <p:txBody>
          <a:bodyPr/>
          <a:lstStyle/>
          <a:p>
            <a:fld id="{54A0433F-D463-4C6D-93BB-5B095B314A64}" type="slidenum">
              <a:rPr lang="en-IN" smtClean="0"/>
              <a:t>16</a:t>
            </a:fld>
            <a:endParaRPr lang="en-IN"/>
          </a:p>
        </p:txBody>
      </p:sp>
    </p:spTree>
    <p:extLst>
      <p:ext uri="{BB962C8B-B14F-4D97-AF65-F5344CB8AC3E}">
        <p14:creationId xmlns:p14="http://schemas.microsoft.com/office/powerpoint/2010/main" val="1201474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1088</TotalTime>
  <Words>1851</Words>
  <Application>Microsoft Office PowerPoint</Application>
  <PresentationFormat>Widescreen</PresentationFormat>
  <Paragraphs>204</Paragraphs>
  <Slides>16</Slides>
  <Notes>0</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Courier New</vt:lpstr>
      <vt:lpstr>Times New Roman</vt:lpstr>
      <vt:lpstr>Office Theme</vt:lpstr>
      <vt:lpstr>  CivicMind – AI based centralized Municipal grievance management system </vt:lpstr>
      <vt:lpstr>Introduction</vt:lpstr>
      <vt:lpstr>Literature Survey</vt:lpstr>
      <vt:lpstr>Literature Survey</vt:lpstr>
      <vt:lpstr>Limitations of Existing Systems </vt:lpstr>
      <vt:lpstr>Problem Statement &amp; Objectives</vt:lpstr>
      <vt:lpstr>PowerPoint Presentation</vt:lpstr>
      <vt:lpstr>Technical Approach</vt:lpstr>
      <vt:lpstr>Model metrics (NLP)</vt:lpstr>
      <vt:lpstr>Model metrics (CNN)</vt:lpstr>
      <vt:lpstr>Feasibility and Viability</vt:lpstr>
      <vt:lpstr>Conclusion</vt:lpstr>
      <vt:lpstr>Conclusion</vt:lpstr>
      <vt:lpstr>Impact and Benefits</vt:lpstr>
      <vt:lpstr>Research and References</vt:lpstr>
      <vt:lpstr>Important Instructions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apsitms 70</dc:creator>
  <cp:lastModifiedBy>Vinay Patil</cp:lastModifiedBy>
  <cp:revision>18</cp:revision>
  <dcterms:created xsi:type="dcterms:W3CDTF">2026-01-06T09:40:51Z</dcterms:created>
  <dcterms:modified xsi:type="dcterms:W3CDTF">2026-02-13T08:30:40Z</dcterms:modified>
</cp:coreProperties>
</file>